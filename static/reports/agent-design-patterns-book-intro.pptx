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i="0">
                <a:solidFill>
                  <a:srgbClr val="E94560"/>
                </a:solidFill>
              </a:defRPr>
            </a:pPr>
            <a:r>
              <a:t>为什么学习 Agent 设计模式？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i="0">
                <a:solidFill>
                  <a:srgbClr val="A0AEC0"/>
                </a:solidFill>
              </a:defRPr>
            </a:pPr>
            <a:r>
              <a:t>大模型很强大，但用它构建可靠系统却是另一回事。</a:t>
            </a:r>
            <a:br/>
            <a:r>
              <a:t>这本书回答了一个核心问题：如何在不确定性上构建可靠性？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i="0">
                <a:solidFill>
                  <a:srgbClr val="FFFFFF"/>
                </a:solidFill>
              </a:defRPr>
            </a:pPr>
            <a:r>
              <a:t>《Agent设计模式》读书笔记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i="0">
                <a:solidFill>
                  <a:srgbClr val="E94560"/>
                </a:solidFill>
              </a:defRPr>
            </a:pPr>
            <a:r>
              <a:t>21个架构范式与智能体的演化之路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i="0">
                <a:solidFill>
                  <a:srgbClr val="A0AEC0"/>
                </a:solidFill>
              </a:defRPr>
            </a:pPr>
            <a:r>
              <a:t>黄佳 著 | 人民邮电出版社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一本书，两条主线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上篇：智能设计的哲学 — 从历史演进揭示 Agent 诞生的必然性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下篇：六大类 21 个核心设计模式 — 感知 / 记忆 / 推理 / 行动 / 反思 / 协作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核心方法论：意图优先 · 上下文为王 · 涌现优于规定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适合读者：想用大模型构建可靠系统的工程师与架构师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i="0">
                <a:solidFill>
                  <a:srgbClr val="FFFFFF"/>
                </a:solidFill>
              </a:defRPr>
            </a:pPr>
            <a:r>
              <a:t>📖  上篇：智能设计的哲学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i="0">
                <a:solidFill>
                  <a:srgbClr val="E94560"/>
                </a:solidFill>
              </a:defRPr>
            </a:pPr>
            <a:r>
              <a:t>📅 2008 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i="0">
                <a:solidFill>
                  <a:srgbClr val="FFFFFF"/>
                </a:solidFill>
              </a:defRPr>
            </a:pPr>
            <a:r>
              <a:t>Twitter 宕机事件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i="0">
                <a:solidFill>
                  <a:srgbClr val="A0AEC0"/>
                </a:solidFill>
              </a:defRPr>
            </a:pPr>
            <a:r>
              <a:t>服务器仍在运行，每个组件看似正常，</a:t>
            </a:r>
            <a:br/>
            <a:r>
              <a:t>但整个系统陷入泥潭，响应时间从毫秒级退化至分钟级。</a:t>
            </a:r>
            <a:br/>
            <a:br/>
            <a:r>
              <a:t>开发者发现：每个设计模式都待在它该在的位置——</a:t>
            </a:r>
            <a:br/>
            <a:r>
              <a:t>但「正确的设计」无法解决「规模」带来的问题。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不确定性的三重奏：21世纪软件工程面临的根本挑战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3453383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📈 规模不确定性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3619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用户量从千人跃升至亿人，</a:t>
            </a:r>
            <a:br/>
            <a:r>
              <a:t>分布式成为常态，</a:t>
            </a:r>
            <a:br/>
            <a:r>
              <a:t>单体架构触及天花板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6344" y="1463040"/>
            <a:ext cx="3453383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6344" y="1536192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🔄 行为不确定性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6344" y="1920240"/>
            <a:ext cx="33619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Web 2.0 时代用户行为不再可预测，</a:t>
            </a:r>
            <a:br/>
            <a:r>
              <a:t>无法用固定规则应对无限变化，</a:t>
            </a:r>
            <a:br/>
            <a:r>
              <a:t>系统必须学会适应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12607" y="1463040"/>
            <a:ext cx="3453383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12607" y="1536192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🔀 需求不确定性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2607" y="1920240"/>
            <a:ext cx="33619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花数月画 UML 按图施工的模式被打破，</a:t>
            </a:r>
            <a:br/>
            <a:r>
              <a:t>市场要求快速迭代，</a:t>
            </a:r>
            <a:br/>
            <a:r>
              <a:t>敏捷革命席卷行业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经典模式的失效：从『正确设计』到『正确思维』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20040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94560"/>
                </a:solidFill>
              </a:defRPr>
            </a:pPr>
            <a:r>
              <a:t>设计模式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371600"/>
            <a:ext cx="310896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14173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94560"/>
                </a:solidFill>
              </a:defRPr>
            </a:pPr>
            <a:r>
              <a:t>失效原因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1371600"/>
            <a:ext cx="4572000" cy="4572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14173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94560"/>
                </a:solidFill>
              </a:defRPr>
            </a:pPr>
            <a:r>
              <a:t>业界应对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920240"/>
            <a:ext cx="3200400" cy="1325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1168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94560"/>
                </a:solidFill>
              </a:defRPr>
            </a:pPr>
            <a:r>
              <a:t>单例模式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1920240"/>
            <a:ext cx="3108960" cy="1325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20116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分布式时代变瓶颈</a:t>
            </a:r>
            <a:br/>
            <a:r>
              <a:t>+ 单点故障源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1920240"/>
            <a:ext cx="4572000" cy="1325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0" y="2011680"/>
            <a:ext cx="4389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Netflix：放弃单例</a:t>
            </a:r>
            <a:br/>
            <a:r>
              <a:t>拥抱冗余，多副本容错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37560"/>
            <a:ext cx="3200400" cy="132588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2900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94560"/>
                </a:solidFill>
              </a:defRPr>
            </a:pPr>
            <a:r>
              <a:t>工厂方法模式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3337560"/>
            <a:ext cx="3108960" cy="132588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0" y="34290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无法处理</a:t>
            </a:r>
            <a:br/>
            <a:r>
              <a:t>运行时演化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3337560"/>
            <a:ext cx="4572000" cy="132588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3429000"/>
            <a:ext cx="4389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Tesla 自动驾驶</a:t>
            </a:r>
            <a:br/>
            <a:r>
              <a:t>每天学习新驾驶模式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54880"/>
            <a:ext cx="3200400" cy="1325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4632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E94560"/>
                </a:solidFill>
              </a:defRPr>
            </a:pPr>
            <a:r>
              <a:t>观察者模式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0" y="4754880"/>
            <a:ext cx="3108960" cy="1325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0" y="484632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分布式环境下</a:t>
            </a:r>
            <a:br/>
            <a:r>
              <a:t>事件链雪崩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4754880"/>
            <a:ext cx="4572000" cy="13258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0" y="4846320"/>
            <a:ext cx="4389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引入异步通信</a:t>
            </a:r>
            <a:br/>
            <a:r>
              <a:t>+ 背压机制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🔄 2012-2014：四次关键变革 — 从『防止故障』到『拥抱故障』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🌐 Google</a:t>
            </a:r>
            <a:br/>
            <a:r>
              <a:t>Datacenter as Computer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18007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2012 — 硬件故障是统计学必然</a:t>
            </a:r>
            <a:br/>
            <a:r>
              <a:t>软件为「故障常态化」而设计</a:t>
            </a:r>
            <a:br/>
            <a:r>
              <a:t>从「单机精修」到「宏观概率」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4476" y="146304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4476" y="153619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🐵 Netflix</a:t>
            </a:r>
            <a:br/>
            <a:r>
              <a:t>Chaos Monkey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1920240"/>
            <a:ext cx="518007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2012 — 专门随机杀死生产服务器</a:t>
            </a:r>
            <a:br/>
            <a:r>
              <a:t>从「鲁棒性」到「反脆弱」</a:t>
            </a:r>
            <a:br/>
            <a:r>
              <a:t>系统像免疫系统通过小创伤进化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1752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9067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📦 Docker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518007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2013 — 不可变基础设施</a:t>
            </a:r>
            <a:br/>
            <a:r>
              <a:t>服务器从「需要维护的资产」</a:t>
            </a:r>
            <a:br/>
            <a:r>
              <a:t>变成可销毁的「耗材」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6" y="301752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4476" y="309067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☸️ Kubernetes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3474720"/>
            <a:ext cx="518007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2014 — 声明式API + 调解循环</a:t>
            </a:r>
            <a:br/>
            <a:r>
              <a:t>Controller 本质上是</a:t>
            </a:r>
            <a:br/>
            <a:r>
              <a:t>原始的、针对特定任务的 Agent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i="1">
                <a:solidFill>
                  <a:srgbClr val="1A1A2E"/>
                </a:solidFill>
              </a:defRPr>
            </a:pPr>
            <a:r>
              <a:t>"确定性时代终结。软件不再是精密的瑞士手表，而更像自组织的生物群落。"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GoF 模式之后：软件工程的象牙塔困境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模式思想源自建筑师克里斯托弗·亚历山大的《建筑模式语言》——优秀建筑是「永恒形式」的发现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1994 年 GoF《设计模式》：提炼23种模式，构建系统化设计世界观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「模式病」(Patternitis)：过度设计让简单功能淹没在抽象海洋中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追求代码「纯洁性」筑起高墙——开发者沉醉于打造完美的水晶球，却忽视了现实世界的灵活性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经典模式诞生于「静态世界」：系统边界清晰、需求可预测、运行环境稳定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函数与流：让软件契合 AI 的思考节奏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LLM 本质是无状态的「纯函数」：输入 Prompt → 输出 Token 流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FP 思想（引用透明 + 管道）与 Agent 数据处理管道完全吻合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背压机制（Backpressure）：多 Agent 协作中「搜索 Agent」不会压垮「写作 Agent」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Serverless：函数平时「沉睡」在云端，Agent 产生意图时通过 API 唤醒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"智能的本质，是对变化的响应。神经网络响应 Tensor 流，强化学习响应 Reward 流，LLM 响应 Token 流。"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K8s 与 LLM Agent：同一个心智模型，不同的管理对象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560320" cy="1234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94560"/>
                </a:solidFill>
              </a:defRPr>
            </a:pPr>
          </a:p>
        </p:txBody>
      </p:sp>
      <p:sp>
        <p:nvSpPr>
          <p:cNvPr id="7" name="Rectangle 6"/>
          <p:cNvSpPr/>
          <p:nvPr/>
        </p:nvSpPr>
        <p:spPr>
          <a:xfrm>
            <a:off x="3200400" y="1280160"/>
            <a:ext cx="4389120" cy="1234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137160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553C9A"/>
                </a:solidFill>
              </a:defRPr>
            </a:pPr>
            <a:r>
              <a:t>Kubernetes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1280160"/>
            <a:ext cx="4114800" cy="1234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37160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553C9A"/>
                </a:solidFill>
              </a:defRPr>
            </a:pPr>
            <a:r>
              <a:t>LLM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6039"/>
            <a:ext cx="2560320" cy="1234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79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94560"/>
                </a:solidFill>
              </a:defRPr>
            </a:pPr>
            <a:r>
              <a:t>输入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606039"/>
            <a:ext cx="4389120" cy="1234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2697479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语法严格的 YAML</a:t>
            </a:r>
            <a:br/>
            <a:r>
              <a:t>（静态资源需求）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2606039"/>
            <a:ext cx="4114800" cy="1234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697479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模糊多变的自然语言 Prompt</a:t>
            </a:r>
            <a:br/>
            <a:r>
              <a:t>（动态人类意图）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2560320" cy="123444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02336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94560"/>
                </a:solidFill>
              </a:defRPr>
            </a:pPr>
            <a:r>
              <a:t>职责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0" y="3931920"/>
            <a:ext cx="4389120" cy="123444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402336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设计精确预设的流程图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0" y="3931920"/>
            <a:ext cx="4114800" cy="1234440"/>
          </a:xfrm>
          <a:prstGeom prst="rect">
            <a:avLst/>
          </a:prstGeom>
          <a:solidFill>
            <a:srgbClr val="2D37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402336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设计目标函数 + 边界护栏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57800"/>
            <a:ext cx="2560320" cy="1234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34924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94560"/>
                </a:solidFill>
              </a:defRPr>
            </a:pPr>
            <a:r>
              <a:t>本质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5257800"/>
            <a:ext cx="4389120" cy="1234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0" y="5349240"/>
            <a:ext cx="4206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管理基础设施的 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0" y="5257800"/>
            <a:ext cx="4114800" cy="123444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0" y="5349240"/>
            <a:ext cx="3931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管理业务逻辑的 Agent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Software 2.0：2017年 Karpathy 的预言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2017年 Andrej Karpathy 提出：此前软件工程致力于消除不确定性；此后，软件工程开始学会利用不确定性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开发者角色转变：「建筑师」（精确控制每行逻辑）→「园丁」（提供土壤和栅栏）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逻辑来源：人类写 if-else → 模型从海量数据中自行「涌现」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MLOps：为 AgentOps 铺路——当代码演变为数据（模型权重），DevOps 工具链力不从心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范式迁移总览：三大技术演进为 Agent 奠定基石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3453383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⚡ 函数与流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3619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使软件契合 AI 的思考节奏</a:t>
            </a:r>
            <a:br/>
            <a:r>
              <a:t>LLM = 无状态纯函数</a:t>
            </a:r>
            <a:br/>
            <a:r>
              <a:t>背压机制保护协作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6344" y="1463040"/>
            <a:ext cx="3453383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6344" y="1536192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🔌 分布式 + Serverless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76344" y="1920240"/>
            <a:ext cx="33619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为 Agent 提供无限延展的「手脚」</a:t>
            </a:r>
            <a:br/>
            <a:r>
              <a:t>微服务 API 铺平工具调用网络</a:t>
            </a:r>
            <a:br/>
            <a:r>
              <a:t>Serverless = 沉睡的技能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12607" y="1463040"/>
            <a:ext cx="3453383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12607" y="1536192"/>
            <a:ext cx="33619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🧠 软件 2.0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2607" y="1920240"/>
            <a:ext cx="3361944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在不确定性中建立对确定性的信心</a:t>
            </a:r>
            <a:br/>
            <a:r>
              <a:t>从消除不确定到利用不确定</a:t>
            </a:r>
            <a:br/>
            <a:r>
              <a:t>园丁 vs 建筑师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Agent 的本质：从工具到伙伴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交互原语升维：命令与控制 → 意图与协作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Agent =「模糊翻译器」：人类模糊的自然语言 → 机器精确的 API 调用（语义→目的→上下文→风险）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记忆与身份：Agent 在对话之间延续「身份」，逐渐形成对用户的深入理解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上下文工程：「上下文就是 Agent 的整个世界」，失败往往源于上下文有误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任务分解（Task Decomposition）：把「目标」变为「计划」的能力——衡量 Agent 智能化水平的关键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ReAct：Agent 行动的标准心智模型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ReAct = Thought → Action → Observation — 推理与行动交织的循环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看图规划（Thought）→ 采取行动（Action）→ 观察反馈（Observation）→ 循环往复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核心价值：推理轨迹追踪中间决策，行动赋予探索环境获取外部信息的能力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这是 Agent 与传统程序的核心区别：输出不再是终点，而是环境改变的起点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MCP + A2A：双轨制协议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MCP（Model Context Protocol）— AI 的 USB-C 接口：标准化 Agent 与工具/数据的连接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A2A — Agent 之间的「对讲机协议」：多个 Agent 相互协作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工具(Tool) = Agent 的「手」— 原子化操作（执行SQL、发送HTTP）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技能(Skill) = Agent 的「技能书」— 工具 + 领域知识 + SOP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编排器（Orchestrator）：当 Agent 数量增加，系统需要「大脑」维持秩序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i="1">
                <a:solidFill>
                  <a:srgbClr val="1A1A2E"/>
                </a:solidFill>
              </a:defRPr>
            </a:pPr>
            <a:r>
              <a:t>"从 GoF 的 23 个设计模式到 Agent 的无限可能，我们跨越了软件工程的一个世纪：设计模式并未消亡，而是在进化；软件工程未曾终结，而是在重生；人类的角色没有消失，而是在升华。"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i="0">
                <a:solidFill>
                  <a:srgbClr val="FFFFFF"/>
                </a:solidFill>
              </a:defRPr>
            </a:pPr>
            <a:r>
              <a:t>🔮  下篇：六大类 21 个核心设计模式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完整 Agent = 感知 + 记忆 + 推理 + 行动 + 反思 + 协作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👁️ 感知</a:t>
            </a:r>
            <a:br/>
            <a:r>
              <a:t>看世界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注意力聚焦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多模态融合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主动感知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9172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519172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🧠 记忆</a:t>
            </a:r>
            <a:br/>
            <a:r>
              <a:t>连接时间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9172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分层记忆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RAG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情节记忆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06824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⚙️ 推理</a:t>
            </a:r>
            <a:br/>
            <a:r>
              <a:t>编织逻辑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6824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思维链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思维树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思维图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6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4476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💪 行动</a:t>
            </a:r>
            <a:br/>
            <a:r>
              <a:t>付诸实施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ReAct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规划-执行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工具编排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82128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8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🔮 反思</a:t>
            </a:r>
            <a:br/>
            <a:r>
              <a:t>判断对错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自我修正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反思记忆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元学习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69780" y="1371600"/>
            <a:ext cx="1650492" cy="475488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69780" y="1463040"/>
            <a:ext cx="16047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🤝 协作</a:t>
            </a:r>
            <a:br/>
            <a:r>
              <a:t>共同进化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69780" y="2377440"/>
            <a:ext cx="1604772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A0AEC0"/>
                </a:solidFill>
              </a:defRPr>
            </a:pPr>
            <a:r>
              <a:t>辩论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委托</a:t>
            </a:r>
          </a:p>
          <a:p>
            <a:pPr algn="ctr">
              <a:defRPr sz="1200">
                <a:solidFill>
                  <a:srgbClr val="A0AEC0"/>
                </a:solidFill>
              </a:defRPr>
            </a:pPr>
            <a:r>
              <a:t>群体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感知模式：看世界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注意力聚焦 — 构建认知漏斗，用最低 Token 成本换取最高上下文质量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多模态融合 — 建立统一语义场，从「拼接式」向「原生式」演进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主动感知 — Agent 从「被动的答题者」转变为「主动的调查员」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本质：不是「看到所有」，而是「看到关键」并「主动寻找未知」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"不要以它能记住多少为荣，而要以它能精简多少为傲。"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记忆模式：连接时间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分层记忆 — L1工作记忆(Context Window) / L2短期缓存(摘要) / L3长期存储(Vector DB+知识图谱)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RAG — 将「推理能力」(CPU) 与「知识存储」(磁盘) 解耦，极低成本保持时效性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情节记忆 — 沉淀 Agent 自身交互产生的动态经验，无需微调即可进化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两种流转：「溢出与巩固」(热→冷) + 「检索与唤醒」(冷→热)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"从上下文工程到 MaaS，记忆正从技巧升级为核心基础设施。"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推理模式：编织逻辑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System 1 / System 2：快直觉 vs 慢刻意，Agent 需要两者兼顾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思维链(CoT) — 线性逐步推进，适合数学与逻辑推导（走钢丝）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思维树(ToT) — 启发式搜索+剪枝回溯，适合多分支权衡（迷宫探路）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思维图(GoT) — 图结构编织+多轮迭代，适合复杂依赖整合（织布机）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"Agent 架构师应善于指挥整支认知乐团，而非迷信单一推理模式。"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行动模式：付诸实施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ReAct — 边想边做：Thought → Action → Observation 循环，实时获取环境反馈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规划-执行 — 先制订全局战略，再分解为可执行步骤（运筹帷幄）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工具编排 — 精准选择、协同调配海量外部工具（调兵遣将）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自适应策略 — 从「进化论」角度，通过试错+反馈+选择演化出最优决策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反思模式：AI 的灵魂工程学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自我修正 — 当下毫秒级，像橡皮擦一样擦除错误（仅限当前任务）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反思记忆 — 下次分钟级，像错题本一样生成「语言形式的教训」存入长期记忆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元学习 — 长远日/周级，像修订教科书一样借助优化器自动迭代 Prompt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感知/记忆/推理/行动/反思 = 眼睛/神经/大脑/肌肉/灵魂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"机器何时拥有灵魂？当它开始为自己的错误感到不安时。"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协作模式：共同进化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辩论 — 对抗性推演，真理在多角度交锋中清晰（法庭正反双方）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委托 — 层级目标分解，经理指挥工人的高效执行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路由 — 精准分发，像医院分诊台将任务分配给最适合的 Agent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群体 — 自组织涌现，像蚁群迁徙无需明确指挥者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i="1">
                <a:solidFill>
                  <a:srgbClr val="1A1A2E"/>
                </a:solidFill>
              </a:defRPr>
            </a:pPr>
            <a:r>
              <a:t>"智能的最高形态，不在于独立思考，而在于共同进化。"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828800"/>
            <a:ext cx="2103120" cy="41148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1168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</a:defRPr>
            </a:pPr>
            <a:r>
              <a:t>👁️ 感知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9184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553C9A"/>
                </a:solidFill>
              </a:defRPr>
            </a:pPr>
            <a:r>
              <a:t>眼睛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7200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捕捉世界的信息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828800"/>
            <a:ext cx="2103120" cy="41148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201168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</a:defRPr>
            </a:pPr>
            <a:r>
              <a:t>🧠 记忆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29184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553C9A"/>
                </a:solidFill>
              </a:defRPr>
            </a:pPr>
            <a:r>
              <a:t>神经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457200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承载经验的痕迹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828800"/>
            <a:ext cx="2103120" cy="41148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201168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</a:defRPr>
            </a:pPr>
            <a:r>
              <a:t>⚙️ 推理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29184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553C9A"/>
                </a:solidFill>
              </a:defRPr>
            </a:pPr>
            <a:r>
              <a:t>大脑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57200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编织逻辑的网络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828800"/>
            <a:ext cx="2103120" cy="41148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01168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</a:defRPr>
            </a:pPr>
            <a:r>
              <a:t>💪 行动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29184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553C9A"/>
                </a:solidFill>
              </a:defRPr>
            </a:pPr>
            <a:r>
              <a:t>肌肉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457200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驱动行动的执行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828800"/>
            <a:ext cx="2103120" cy="41148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201168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0">
                <a:solidFill>
                  <a:srgbClr val="FFFFFF"/>
                </a:solidFill>
              </a:defRPr>
            </a:pPr>
            <a:r>
              <a:t>🔮 反思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29184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553C9A"/>
                </a:solidFill>
              </a:defRPr>
            </a:pPr>
            <a:r>
              <a:t>灵魂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4572000"/>
            <a:ext cx="21031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对自身局限的觉察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553C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后记：从确定性工程到概率性工程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传统软件 = 牛顿力学隐喻：世界如精密钟表，追求零熵，将不确定性视为 bug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Agent 时代 = 达尔文逻辑：软件展现生长性（通过 RAG 积累）、适应性（动态调整）、繁殖性（生成新 Prompt）</a:t>
            </a:r>
          </a:p>
          <a:p>
            <a:pPr>
              <a:spcAft>
                <a:spcPts val="1400"/>
              </a:spcAft>
              <a:defRPr sz="2100" b="1">
                <a:solidFill>
                  <a:srgbClr val="553C9A"/>
                </a:solidFill>
              </a:defRPr>
            </a:pPr>
            <a:r>
              <a:t>• 我们正见证硅基生命的「寒武纪大爆发」</a:t>
            </a:r>
          </a:p>
          <a:p>
            <a:pPr>
              <a:spcAft>
                <a:spcPts val="1400"/>
              </a:spcAft>
              <a:defRPr sz="2100" b="0">
                <a:solidFill>
                  <a:srgbClr val="1A1A2E"/>
                </a:solidFill>
              </a:defRPr>
            </a:pPr>
            <a:r>
              <a:t>• 架构师的新角色 = 熵的园丁：无法命令植物长多高，但可以优化土壤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274552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园丁的智慧：懂得「适度失控」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3619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🌱 浇水施肥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518007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优化数据质量</a:t>
            </a:r>
            <a:br/>
            <a:r>
              <a:t>提供知识滋养系统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4476" y="146304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4476" y="153619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✂️ 修剪枝叶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1920240"/>
            <a:ext cx="518007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设置护栏</a:t>
            </a:r>
            <a:br/>
            <a:r>
              <a:t>引入批判机制应对幻觉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1752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09067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🌍 营造环境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518007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设计 A2A 协议</a:t>
            </a:r>
            <a:br/>
            <a:r>
              <a:t>搭建 Swarm 平台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4476" y="3017520"/>
            <a:ext cx="5271516" cy="141732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4476" y="3090672"/>
            <a:ext cx="5180076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553C9A"/>
                </a:solidFill>
              </a:defRPr>
            </a:pPr>
            <a:r>
              <a:t>💡 容忍混沌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3474720"/>
            <a:ext cx="518007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EC0"/>
                </a:solidFill>
              </a:defRPr>
            </a:pPr>
            <a:r>
              <a:t>唯有在混沌的边缘</a:t>
            </a:r>
            <a:br/>
            <a:r>
              <a:t>智能才会真正涌现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i="1">
                <a:solidFill>
                  <a:srgbClr val="1A1A2E"/>
                </a:solidFill>
              </a:defRPr>
            </a:pPr>
            <a:r>
              <a:t>"园丁的智慧，在于懂得「适度失控」。唯有在混沌的边缘，智能才会真正涌现。"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i="0">
                <a:solidFill>
                  <a:srgbClr val="FFFFFF"/>
                </a:solidFill>
              </a:defRPr>
            </a:pPr>
            <a:r>
              <a:t>谢谢观看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i="0">
                <a:solidFill>
                  <a:srgbClr val="A0AEC0"/>
                </a:solidFill>
              </a:defRPr>
            </a:pPr>
            <a:r>
              <a:t>《Agent设计模式》读书笔记 | Tony老师分享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45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i="0">
                <a:solidFill>
                  <a:srgbClr val="E94560"/>
                </a:solidFill>
              </a:defRPr>
            </a:pPr>
            <a:r>
              <a:t>blog.tanteng.space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