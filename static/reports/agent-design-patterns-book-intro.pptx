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745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i="0">
                <a:solidFill>
                  <a:srgbClr val="E94560"/>
                </a:solidFill>
              </a:defRPr>
            </a:pPr>
            <a:r>
              <a:t>为什么学习 Agent 设计模式？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112745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i="0">
                <a:solidFill>
                  <a:srgbClr val="A0AEC0"/>
                </a:solidFill>
              </a:defRPr>
            </a:pPr>
            <a:r>
              <a:t>大模型很强大，但用它构建可靠系统却是另一回事。</a:t>
            </a:r>
            <a:br/>
            <a:r>
              <a:t>这本书回答了一个核心问题：如何在不确定性上构建可靠性？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45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i="0">
                <a:solidFill>
                  <a:srgbClr val="FFFFFF"/>
                </a:solidFill>
              </a:defRPr>
            </a:pPr>
            <a:r>
              <a:t>《Agent设计模式》读书笔记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0"/>
            <a:ext cx="112745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i="0">
                <a:solidFill>
                  <a:srgbClr val="E94560"/>
                </a:solidFill>
              </a:defRPr>
            </a:pPr>
            <a:r>
              <a:t>21个架构范式与智能体的演化之路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745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i="0">
                <a:solidFill>
                  <a:srgbClr val="A0AEC0"/>
                </a:solidFill>
              </a:defRPr>
            </a:pPr>
            <a:r>
              <a:t>黄佳 著 | 人民邮电出版社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一本书，两条主线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上篇：智能设计的哲学 — 从历史演进揭示 Agent 诞生的必然性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下篇：六大类 21 个核心设计模式 — 感知/记忆/推理/行动/反思/协作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核心方法论：意图优先 + 上下文为王 + 涌现优于规定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适合读者：想用大模型构建可靠系统的工程师 / 架构师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745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i="0">
                <a:solidFill>
                  <a:srgbClr val="FFFFFF"/>
                </a:solidFill>
              </a:defRPr>
            </a:pPr>
            <a:r>
              <a:t>📖  上篇：智能设计的哲学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范式迁移：从确定性到概率性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GoF 设计模式 — 诞生于「静态世界」：系统边界清晰、需求可预测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2012 转折点 — Netflix Chaos Monkey：故障不可避免，就让它进化出免疫力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Google Datacenter as Computer：硬件故障是统计学必然，为「故障常态化」而设计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确定性时代终结：软件不再是「瑞士手表」，而是「热带雨林」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意图比模式更重要 — Agent 首次将「意图」显式嵌入系统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2012-2014：四次关键技术演进，奠定 Agent 基石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5271516" cy="1325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51800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53C9A"/>
                </a:solidFill>
              </a:defRPr>
            </a:pPr>
            <a:r>
              <a:t>🌐 Google Datacenter as Computer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01952"/>
            <a:ext cx="518007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硬件故障是统计学必然，软件为故障常态化设计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4476" y="1463040"/>
            <a:ext cx="5271516" cy="1325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4476" y="1536192"/>
            <a:ext cx="51800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53C9A"/>
                </a:solidFill>
              </a:defRPr>
            </a:pPr>
            <a:r>
              <a:t>🐵 Netflix Chaos Monkey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6" y="1901952"/>
            <a:ext cx="518007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从鲁棒性到反脆弱，系统像免疫系统通过小创伤进化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26080"/>
            <a:ext cx="5271516" cy="1325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9232"/>
            <a:ext cx="51800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53C9A"/>
                </a:solidFill>
              </a:defRPr>
            </a:pPr>
            <a:r>
              <a:t>📦 Docker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64992"/>
            <a:ext cx="518007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不可变基础设施，服务器从资产变成可销毁的耗材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4476" y="2926080"/>
            <a:ext cx="5271516" cy="1325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4476" y="2999232"/>
            <a:ext cx="51800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53C9A"/>
                </a:solidFill>
              </a:defRPr>
            </a:pPr>
            <a:r>
              <a:t>☸️ Kubernetes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3364992"/>
            <a:ext cx="518007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声明式API+调解循环，Controller本质上是原始Agent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Software 2.0：概率性工程的崛起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2017年 Andrej Karpathy 提出：软件工程从消除不确定性 → 利用不确定性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开发者角色转变：「建筑师」（精确控制每行逻辑）→「园丁」（提供土壤和栅栏）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逻辑来源：人类写 if-else → 模型从海量数据中自行「涌现」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MLOps 为 AgentOps 铺路：当代码演变为数据（模型权重），DevOps 工具链力不从心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函数与流：让软件契合 AI 的思考节奏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LLM 本质是无状态的「纯函数」：输入 Prompt → 输出 Token 流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FP 思想（引用透明 + 管道）与 Agent 数据处理管道完全吻合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背压机制（Backpressure）：多 Agent 协作中「搜索 Agent」不会压垮「写作 Agent」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Serverless：函数平时「沉睡」在云端，Agent 产生意图时通过 API 唤醒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Agent 的本质：从工具到伙伴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交互原语升维：命令与控制 → 意图与协作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Agent =「模糊翻译器」：人类模糊的自然语言 → 机器精确的 API 调用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记忆与身份：Agent 在对话之间延续「身份」，逐渐形成对用户的深入理解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上下文工程：「上下文就是 Agent 的整个世界」，失败往往源于上下文有误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任务分解（Task Decomposition）：把「目标」变为「计划」的能力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ReAct：Agent 行动的标准心智模型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ReAct = Thought → Action → Observation — 推理与行动交织的循环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看图规划（Thought）→ 采取行动（Action）→ 观察反馈（Observation）→ 循环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核心价值：推理轨迹追踪中间决策，行动赋予探索环境获取外部信息的能力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这是 Agent 与传统程序的核心区别：输出不再是终点，而是环境改变的起点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MCP + A2A：双轨制协议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MCP（Model Context Protocol）— AI 的 USB-C 接口：标准化 Agent 与工具/数据的连接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A2A — Agent 之间的「对讲机协议」：多个 Agent 相互协作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工具(Tool) = Agent 的「手」— 原子化操作（执行SQL、发送HTTP）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技能(Skill) = Agent 的「技能书」— 工具 + 领域知识 + SOP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编排器（Orchestrator）：当 Agent 数量增加，系统需要「大脑」维持秩序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45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i="1">
                <a:solidFill>
                  <a:srgbClr val="1A1A2E"/>
                </a:solidFill>
              </a:defRPr>
            </a:pPr>
            <a:r>
              <a:t>"从 GoF 的 23 个设计模式到 Agent 的无限可能，我们跨越了软件工程的一个世纪：设计模式并未消亡，而是在进化；软件工程未曾终结，而是在重生；人类的角色没有消失，而是在升华。"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745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i="0">
                <a:solidFill>
                  <a:srgbClr val="FFFFFF"/>
                </a:solidFill>
              </a:defRPr>
            </a:pPr>
            <a:r>
              <a:t>🔮  下篇：六大类 21 个核心设计模式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完整 Agent = 感知 + 记忆 + 推理 + 行动 + 反思 + 协作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650492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6047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53C9A"/>
                </a:solidFill>
              </a:defRPr>
            </a:pPr>
            <a:r>
              <a:t>👁️ 感知</a:t>
            </a:r>
            <a:br/>
            <a:r>
              <a:t>看世界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16047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A0AEC0"/>
                </a:solidFill>
              </a:defRPr>
            </a:pPr>
            <a:r>
              <a:t>注意力聚焦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多模态融合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主动感知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9172" y="1371600"/>
            <a:ext cx="1650492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9172" y="1463040"/>
            <a:ext cx="16047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53C9A"/>
                </a:solidFill>
              </a:defRPr>
            </a:pPr>
            <a:r>
              <a:t>🧠 记忆</a:t>
            </a:r>
            <a:br/>
            <a:r>
              <a:t>连接时间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9172" y="2377440"/>
            <a:ext cx="16047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A0AEC0"/>
                </a:solidFill>
              </a:defRPr>
            </a:pPr>
            <a:r>
              <a:t>分层记忆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RAG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情节记忆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1371600"/>
            <a:ext cx="1650492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6824" y="1463040"/>
            <a:ext cx="16047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53C9A"/>
                </a:solidFill>
              </a:defRPr>
            </a:pPr>
            <a:r>
              <a:t>⚙️ 推理</a:t>
            </a:r>
            <a:br/>
            <a:r>
              <a:t>编织逻辑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6824" y="2377440"/>
            <a:ext cx="16047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A0AEC0"/>
                </a:solidFill>
              </a:defRPr>
            </a:pPr>
            <a:r>
              <a:t>思维链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思维树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思维图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4476" y="1371600"/>
            <a:ext cx="1650492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4476" y="1463040"/>
            <a:ext cx="16047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53C9A"/>
                </a:solidFill>
              </a:defRPr>
            </a:pPr>
            <a:r>
              <a:t>💪 行动</a:t>
            </a:r>
            <a:br/>
            <a:r>
              <a:t>付诸实施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2377440"/>
            <a:ext cx="16047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A0AEC0"/>
                </a:solidFill>
              </a:defRPr>
            </a:pPr>
            <a:r>
              <a:t>ReAct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规划-执行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工具编排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82128" y="1371600"/>
            <a:ext cx="1650492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82128" y="1463040"/>
            <a:ext cx="16047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53C9A"/>
                </a:solidFill>
              </a:defRPr>
            </a:pPr>
            <a:r>
              <a:t>🔮 反思</a:t>
            </a:r>
            <a:br/>
            <a:r>
              <a:t>判断对错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2377440"/>
            <a:ext cx="16047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A0AEC0"/>
                </a:solidFill>
              </a:defRPr>
            </a:pPr>
            <a:r>
              <a:t>自我修正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反思记忆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元学习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69780" y="1371600"/>
            <a:ext cx="1650492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69780" y="1463040"/>
            <a:ext cx="16047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53C9A"/>
                </a:solidFill>
              </a:defRPr>
            </a:pPr>
            <a:r>
              <a:t>🤝 协作</a:t>
            </a:r>
            <a:br/>
            <a:r>
              <a:t>共同进化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69780" y="2377440"/>
            <a:ext cx="16047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A0AEC0"/>
                </a:solidFill>
              </a:defRPr>
            </a:pPr>
            <a:r>
              <a:t>辩论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委托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群体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感知模式：看世界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注意力聚焦 — 构建认知漏斗，用最低 Token 成本换取最高上下文质量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多模态融合 — 建立统一语义场，从「拼接式」向「原生式」演进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主动感知 — Agent 从「被动的答题者」转变为「主动的调查员」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本质：不是「看到所有」，而是「看到关键」并「主动寻找未知」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"不要以它能记住多少为荣，而要以它能精简多少为傲。"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记忆模式：连接时间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分层记忆 — L1工作记忆(Context Window) / L2短期缓存(摘要) / L3长期存储(Vector DB+知识图谱)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RAG — 将「推理能力」(CPU) 与「知识存储」(磁盘) 解耦，极低成本保持时效性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情节记忆 — 沉淀 Agent 自身交互产生的动态经验，Agent 不需要微调即可进化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两种流转：「溢出与巩固」(热→冷) + 「检索与唤醒」(冷→热)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"从上下文工程到 MaaS，记忆正从技巧升级为核心基础设施。"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推理模式：编织逻辑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System 1 / System 2：快直觉 vs 慢刻意，Agent 需要两者兼顾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思维链(CoT) — 线性逐步推进，适合数学与逻辑推导（走钢丝）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思维树(ToT) — 启发式搜索+剪枝回溯，适合多分支权衡（迷宫探路）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思维图(GoT) — 图结构编织+多轮迭代，适合复杂依赖整合（织布机）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"Agent 架构师应善于指挥整支认知乐团，而非迷信单一推理模式。"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行动模式：付诸实施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ReAct — 边想边做：Thought → Action → Observation 循环，实时获取环境反馈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规划-执行 — 先制订全局战略，再分解为可执行步骤（运筹帷幄）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工具编排 — 精准选择、协同调配海量外部工具（调兵遣将）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自适应策略 — 从「进化论」角度，通过试错+反馈+选择演化出最优决策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反思模式：AI 的灵魂工程学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自我修正 — 当下毫秒级，像橡皮擦一样擦除错误（仅限当前任务）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反思记忆 — 下次分钟级，像错题本一样生成「语言形式的教训」存入长期记忆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元学习 — 长远日/周级，像修订教科书一样借助优化器自动迭代 Prompt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感知/记忆/推理/行动/反思 = 眼睛/神经/大脑/肌肉/灵魂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"机器何时拥有灵魂？当它开始为自己的错误感到不安时。"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协作模式：共同进化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辩论 — 对抗性推演，真理在多角度交锋中清晰（法庭正反双方）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委托 — 层级目标分解，经理指挥工人的高效执行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路由 — 精准分发，像医院分诊台将任务分配给最适合的 Agent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群体 — 自组织涌现，像蚁群迁徙无需明确指挥者，展现惊人集体效率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45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i="1">
                <a:solidFill>
                  <a:srgbClr val="1A1A2E"/>
                </a:solidFill>
              </a:defRPr>
            </a:pPr>
            <a:r>
              <a:t>"智能的最高形态，不在于独立思考，而在于共同进化。"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后记：从确定性工程到概率性工程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传统软件 = 牛顿力学隐喻：世界如精密钟表，追求零熵，将不确定性视为 bug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Agent 时代 = 达尔文逻辑：软件展现生长性（通过 RAG 积累）、适应性（动态调整）、繁殖性（生成新 Prompt）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我们正见证硅基生命的「寒武纪大爆发」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架构师的新角色 = 熵的园丁：无法命令植物长多高，但可以优化土壤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园丁的智慧：懂得「适度失控」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5271516" cy="1325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51800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53C9A"/>
                </a:solidFill>
              </a:defRPr>
            </a:pPr>
            <a:r>
              <a:t>🌱 浇水施肥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01952"/>
            <a:ext cx="518007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优化数据质量，提供知识滋养系统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4476" y="1463040"/>
            <a:ext cx="5271516" cy="1325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4476" y="1536192"/>
            <a:ext cx="51800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53C9A"/>
                </a:solidFill>
              </a:defRPr>
            </a:pPr>
            <a:r>
              <a:t>✂️ 修剪枝叶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6" y="1901952"/>
            <a:ext cx="518007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设置护栏，引入批判机制应对幻觉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26080"/>
            <a:ext cx="5271516" cy="1325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9232"/>
            <a:ext cx="51800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53C9A"/>
                </a:solidFill>
              </a:defRPr>
            </a:pPr>
            <a:r>
              <a:t>🌍 营造环境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64992"/>
            <a:ext cx="518007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设计 A2A 协议，搭建 Swarm 平台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4476" y="2926080"/>
            <a:ext cx="5271516" cy="1325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4476" y="2999232"/>
            <a:ext cx="51800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53C9A"/>
                </a:solidFill>
              </a:defRPr>
            </a:pPr>
            <a:r>
              <a:t>💡 容忍混沌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3364992"/>
            <a:ext cx="518007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唯有在混沌的边缘，智能才会真正涌现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45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i="1">
                <a:solidFill>
                  <a:srgbClr val="1A1A2E"/>
                </a:solidFill>
              </a:defRPr>
            </a:pPr>
            <a:r>
              <a:t>"园丁的智慧，在于懂得「适度失控」。唯有在混沌的边缘，智能才会真正涌现。"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45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i="0">
                <a:solidFill>
                  <a:srgbClr val="FFFFFF"/>
                </a:solidFill>
              </a:defRPr>
            </a:pPr>
            <a:r>
              <a:t>谢谢观看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45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i="0">
                <a:solidFill>
                  <a:srgbClr val="A0AEC0"/>
                </a:solidFill>
              </a:defRPr>
            </a:pPr>
            <a:r>
              <a:t>《Agent设计模式》读书笔记 | Tony老师分享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12745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i="0">
                <a:solidFill>
                  <a:srgbClr val="E94560"/>
                </a:solidFill>
              </a:defRPr>
            </a:pPr>
            <a:r>
              <a:t>blog.tanteng.space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