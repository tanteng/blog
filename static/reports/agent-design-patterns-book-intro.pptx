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45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i="0">
                <a:solidFill>
                  <a:srgbClr val="E94560"/>
                </a:solidFill>
              </a:defRPr>
            </a:pPr>
            <a:r>
              <a:t>为什么学习 Agent 设计模式？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745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i="0">
                <a:solidFill>
                  <a:srgbClr val="A0AEC0"/>
                </a:solidFill>
              </a:defRPr>
            </a:pPr>
            <a:r>
              <a:t>大模型很强大，但用它构建可靠系统却是另一回事。</a:t>
            </a:r>
            <a:br/>
            <a:r>
              <a:t>这本书回答了一个核心问题：如何在不确定性上构建可靠性？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12745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i="0">
                <a:solidFill>
                  <a:srgbClr val="FFFFFF"/>
                </a:solidFill>
              </a:defRPr>
            </a:pPr>
            <a:r>
              <a:t>《Agent设计模式》读书笔记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0"/>
            <a:ext cx="112745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i="0">
                <a:solidFill>
                  <a:srgbClr val="E94560"/>
                </a:solidFill>
              </a:defRPr>
            </a:pPr>
            <a:r>
              <a:t>21个架构范式与智能体的演化之路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745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i="0">
                <a:solidFill>
                  <a:srgbClr val="A0AEC0"/>
                </a:solidFill>
              </a:defRPr>
            </a:pPr>
            <a:r>
              <a:t>黄佳 著 | 人民邮电出版社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455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一本书，两条主线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0">
                <a:solidFill>
                  <a:srgbClr val="1A1A2E"/>
                </a:solidFill>
              </a:defRPr>
            </a:pPr>
            <a:r>
              <a:t>• 上篇：智能设计的哲学 — 从历史演进揭示 Agent 诞生的必然性</a:t>
            </a:r>
          </a:p>
          <a:p>
            <a:pPr>
              <a:spcAft>
                <a:spcPts val="1400"/>
              </a:spcAft>
              <a:defRPr sz="2000" b="0">
                <a:solidFill>
                  <a:srgbClr val="1A1A2E"/>
                </a:solidFill>
              </a:defRPr>
            </a:pPr>
            <a:r>
              <a:t>• 下篇：六大类 21 个核心设计模式 — 感知 / 记忆 / 推理 / 行动 / 反思 / 协作</a:t>
            </a:r>
          </a:p>
          <a:p>
            <a:pPr>
              <a:spcAft>
                <a:spcPts val="1400"/>
              </a:spcAft>
              <a:defRPr sz="2000" b="1">
                <a:solidFill>
                  <a:srgbClr val="553C9A"/>
                </a:solidFill>
              </a:defRPr>
            </a:pPr>
            <a:r>
              <a:t>• 核心方法论：意图优先 · 上下文为王 · 涌现优于规定</a:t>
            </a:r>
          </a:p>
          <a:p>
            <a:pPr>
              <a:spcAft>
                <a:spcPts val="1400"/>
              </a:spcAft>
              <a:defRPr sz="2000" b="0">
                <a:solidFill>
                  <a:srgbClr val="1A1A2E"/>
                </a:solidFill>
              </a:defRPr>
            </a:pPr>
            <a:r>
              <a:t>• 适合读者：想用大模型构建可靠系统的工程师与架构师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553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45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i="0">
                <a:solidFill>
                  <a:srgbClr val="FFFFFF"/>
                </a:solidFill>
              </a:defRPr>
            </a:pPr>
            <a:r>
              <a:t>📖  上篇：智能设计的哲学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45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i="0">
                <a:solidFill>
                  <a:srgbClr val="E94560"/>
                </a:solidFill>
              </a:defRPr>
            </a:pPr>
            <a:r>
              <a:t>📅 2008 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745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i="0">
                <a:solidFill>
                  <a:srgbClr val="FFFFFF"/>
                </a:solidFill>
              </a:defRPr>
            </a:pPr>
            <a:r>
              <a:t>Twitter 宕机事件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112745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i="0">
                <a:solidFill>
                  <a:srgbClr val="A0AEC0"/>
                </a:solidFill>
              </a:defRPr>
            </a:pPr>
            <a:r>
              <a:t>服务器仍在运行，每个组件看似正常，</a:t>
            </a:r>
            <a:br/>
            <a:r>
              <a:t>但整个系统陷入泥潭，响应时间从毫秒级退化至分钟级。</a:t>
            </a:r>
            <a:br/>
            <a:br/>
            <a:r>
              <a:t>开发者发现：每个设计模式都待在它该在的位置——</a:t>
            </a:r>
            <a:br/>
            <a:r>
              <a:t>但「正确的设计」无法解决「规模」带来的问题。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455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不确定性的三重奏：21世纪软件工程面临的根本挑战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3453383" cy="14173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36192"/>
            <a:ext cx="336194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53C9A"/>
                </a:solidFill>
              </a:defRPr>
            </a:pPr>
            <a:r>
              <a:t>📈 规模不确定性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38528"/>
            <a:ext cx="3361944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0AEC0"/>
                </a:solidFill>
              </a:defRPr>
            </a:pPr>
            <a:r>
              <a:t>用户量从千人跃升至亿人，</a:t>
            </a:r>
            <a:br/>
            <a:r>
              <a:t>分布式成为常态，</a:t>
            </a:r>
            <a:br/>
            <a:r>
              <a:t>单体架构触及天花板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6344" y="1463040"/>
            <a:ext cx="3453383" cy="14173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76344" y="1536192"/>
            <a:ext cx="336194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53C9A"/>
                </a:solidFill>
              </a:defRPr>
            </a:pPr>
            <a:r>
              <a:t>🔄 行为不确定性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6344" y="1938528"/>
            <a:ext cx="3361944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0AEC0"/>
                </a:solidFill>
              </a:defRPr>
            </a:pPr>
            <a:r>
              <a:t>Web 2.0 时代用户行为不再可预测，</a:t>
            </a:r>
            <a:br/>
            <a:r>
              <a:t>无法用固定规则应对无限变化，</a:t>
            </a:r>
            <a:br/>
            <a:r>
              <a:t>系统必须学会适应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12607" y="1463040"/>
            <a:ext cx="3453383" cy="14173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12607" y="1536192"/>
            <a:ext cx="336194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53C9A"/>
                </a:solidFill>
              </a:defRPr>
            </a:pPr>
            <a:r>
              <a:t>🔀 需求不确定性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12607" y="1938528"/>
            <a:ext cx="3361944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0AEC0"/>
                </a:solidFill>
              </a:defRPr>
            </a:pPr>
            <a:r>
              <a:t>花数月画 UML 按图施工的模式被打破，</a:t>
            </a:r>
            <a:br/>
            <a:r>
              <a:t>市场要求快速迭代，</a:t>
            </a:r>
            <a:br/>
            <a:r>
              <a:t>敏捷革命席卷行业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455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经典模式的失效：从正确设计到正确思维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20040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94560"/>
                </a:solidFill>
              </a:defRPr>
            </a:pPr>
            <a:r>
              <a:t>设计模式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0" y="1371600"/>
            <a:ext cx="310896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0" y="14173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94560"/>
                </a:solidFill>
              </a:defRPr>
            </a:pPr>
            <a:r>
              <a:t>为什么会失效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0" y="1371600"/>
            <a:ext cx="457200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14173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94560"/>
                </a:solidFill>
              </a:defRPr>
            </a:pPr>
            <a:r>
              <a:t>业界如何应对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920240"/>
            <a:ext cx="3200400" cy="1280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993392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94560"/>
                </a:solidFill>
              </a:defRPr>
            </a:pPr>
            <a:r>
              <a:t>单例模式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0" y="1920240"/>
            <a:ext cx="3108960" cy="1280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0" y="1993392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分布式时代变瓶颈</a:t>
            </a:r>
            <a:br/>
            <a:r>
              <a:t>+ 单点故障源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0" y="1920240"/>
            <a:ext cx="4572000" cy="1280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0" y="1993392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Netflix：彻底放弃单例</a:t>
            </a:r>
            <a:br/>
            <a:r>
              <a:t>拥抱多副本冗余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291840"/>
            <a:ext cx="3200400" cy="128016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364992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94560"/>
                </a:solidFill>
              </a:defRPr>
            </a:pPr>
            <a:r>
              <a:t>工厂方法模式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0" y="3291840"/>
            <a:ext cx="3108960" cy="128016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1920" y="3364992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无法处理</a:t>
            </a:r>
            <a:br/>
            <a:r>
              <a:t>运行时持续演化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0" y="3291840"/>
            <a:ext cx="4572000" cy="128016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3760" y="3364992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Tesla 自动驾驶</a:t>
            </a:r>
            <a:br/>
            <a:r>
              <a:t>每天学习新驾驶模式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663440"/>
            <a:ext cx="3200400" cy="1280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736592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94560"/>
                </a:solidFill>
              </a:defRPr>
            </a:pPr>
            <a:r>
              <a:t>观察者模式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0" y="4663440"/>
            <a:ext cx="3108960" cy="1280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31920" y="4736592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分布式环境下</a:t>
            </a:r>
            <a:br/>
            <a:r>
              <a:t>事件链雪崩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0" y="4663440"/>
            <a:ext cx="4572000" cy="1280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23760" y="4736592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引入异步消息队列</a:t>
            </a:r>
            <a:br/>
            <a:r>
              <a:t>+ 背压机制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455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2012-2014：四次关键变革，从防止故障到拥抱故障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5271516" cy="14173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36192"/>
            <a:ext cx="518007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53C9A"/>
                </a:solidFill>
              </a:defRPr>
            </a:pPr>
            <a:r>
              <a:t>🌐 Google Datacenter as Computer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38528"/>
            <a:ext cx="5180076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0AEC0"/>
                </a:solidFill>
              </a:defRPr>
            </a:pPr>
            <a:r>
              <a:t>2012 — 硬件故障是统计学必然，软件为故障常态化设计，从单机精修到宏观概率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4476" y="1463040"/>
            <a:ext cx="5271516" cy="14173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4476" y="1536192"/>
            <a:ext cx="518007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53C9A"/>
                </a:solidFill>
              </a:defRPr>
            </a:pPr>
            <a:r>
              <a:t>🐵 Netflix Chaos Monkey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4476" y="1938528"/>
            <a:ext cx="5180076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0AEC0"/>
                </a:solidFill>
              </a:defRPr>
            </a:pPr>
            <a:r>
              <a:t>2012 — 专门随机杀死生产服务器，从鲁棒性到反脆弱，系统像免疫系统进化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017520"/>
            <a:ext cx="5271516" cy="14173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090672"/>
            <a:ext cx="518007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53C9A"/>
                </a:solidFill>
              </a:defRPr>
            </a:pPr>
            <a:r>
              <a:t>📦 Docker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493008"/>
            <a:ext cx="5180076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0AEC0"/>
                </a:solidFill>
              </a:defRPr>
            </a:pPr>
            <a:r>
              <a:t>2013 — 不可变基础设施，服务器从需要维护的资产变成可销毁的耗材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4476" y="3017520"/>
            <a:ext cx="5271516" cy="14173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4476" y="3090672"/>
            <a:ext cx="518007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53C9A"/>
                </a:solidFill>
              </a:defRPr>
            </a:pPr>
            <a:r>
              <a:t>☸️ Kubernetes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4476" y="3493008"/>
            <a:ext cx="5180076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0AEC0"/>
                </a:solidFill>
              </a:defRPr>
            </a:pPr>
            <a:r>
              <a:t>2014 — 声明式API+调解循环，Controller本质上是原始的、特定任务的 Agent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745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i="1">
                <a:solidFill>
                  <a:srgbClr val="1A1A2E"/>
                </a:solidFill>
              </a:defRPr>
            </a:pPr>
            <a:r>
              <a:t>"确定性时代终结。软件不再是精密的瑞士手表，而更像自组织的生物群落。"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455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GoF 模式之后：软件工程的象牙塔困境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0">
                <a:solidFill>
                  <a:srgbClr val="1A1A2E"/>
                </a:solidFill>
              </a:defRPr>
            </a:pPr>
            <a:r>
              <a:t>• GoF（Gang of Four，四人组）：Erich Gamma、Richard Helm、Ralph Johnson、John Vlissides，1994年提炼23种经典模式</a:t>
            </a:r>
          </a:p>
          <a:p>
            <a:pPr>
              <a:spcAft>
                <a:spcPts val="1400"/>
              </a:spcAft>
              <a:defRPr sz="2000" b="1">
                <a:solidFill>
                  <a:srgbClr val="553C9A"/>
                </a:solidFill>
              </a:defRPr>
            </a:pPr>
            <a:r>
              <a:t>• 模式病 (Patternitis)：过度设计让简单功能淹没在抽象海洋中</a:t>
            </a:r>
          </a:p>
          <a:p>
            <a:pPr>
              <a:spcAft>
                <a:spcPts val="1400"/>
              </a:spcAft>
              <a:defRPr sz="2000" b="1">
                <a:solidFill>
                  <a:srgbClr val="553C9A"/>
                </a:solidFill>
              </a:defRPr>
            </a:pPr>
            <a:r>
              <a:t>• 追求代码纯洁性筑起高墙——开发者打造完美的水晶球，却忽视了现实世界的灵活性</a:t>
            </a:r>
          </a:p>
          <a:p>
            <a:pPr>
              <a:spcAft>
                <a:spcPts val="1400"/>
              </a:spcAft>
              <a:defRPr sz="2000" b="0">
                <a:solidFill>
                  <a:srgbClr val="1A1A2E"/>
                </a:solidFill>
              </a:defRPr>
            </a:pPr>
            <a:r>
              <a:t>• GoF 模式没有做错任何事——它们只是诞生在了一个错误的时代背景下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455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函数与流：让软件契合 AI 的思考节奏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0">
                <a:solidFill>
                  <a:srgbClr val="1A1A2E"/>
                </a:solidFill>
              </a:defRPr>
            </a:pPr>
            <a:r>
              <a:t>• LLM 本质是无状态的纯函数：给它一个 Prompt，输出一串 Token，然后恢复空白状态</a:t>
            </a:r>
          </a:p>
          <a:p>
            <a:pPr>
              <a:spcAft>
                <a:spcPts val="1400"/>
              </a:spcAft>
              <a:defRPr sz="2000" b="0">
                <a:solidFill>
                  <a:srgbClr val="1A1A2E"/>
                </a:solidFill>
              </a:defRPr>
            </a:pPr>
            <a:r>
              <a:t>• FP 的引用透明 + 管道思想与 Agent 数据处理管道完全吻合</a:t>
            </a:r>
          </a:p>
          <a:p>
            <a:pPr>
              <a:spcAft>
                <a:spcPts val="1400"/>
              </a:spcAft>
              <a:defRPr sz="2000" b="1">
                <a:solidFill>
                  <a:srgbClr val="553C9A"/>
                </a:solidFill>
              </a:defRPr>
            </a:pPr>
            <a:r>
              <a:t>• 背压机制（Backpressure）：多 Agent 协作中搜索 Agent 不会压垮写作 Agent</a:t>
            </a:r>
          </a:p>
          <a:p>
            <a:pPr>
              <a:spcAft>
                <a:spcPts val="1400"/>
              </a:spcAft>
              <a:defRPr sz="2000" b="0">
                <a:solidFill>
                  <a:srgbClr val="1A1A2E"/>
                </a:solidFill>
              </a:defRPr>
            </a:pPr>
            <a:r>
              <a:t>• 智能的本质，是对变化的响应。神经网络响应 Tensor 流，强化学习响应 Reward 流，LLM 响应 Token 流。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455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分布式技术演进与 Agent 的关系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45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i="0">
                <a:solidFill>
                  <a:srgbClr val="553C9A"/>
                </a:solidFill>
              </a:defRPr>
            </a:pPr>
            <a:r>
              <a:t>正如 Linux 让互联网应用成为可能，</a:t>
            </a:r>
            <a:br/>
            <a:r>
              <a:t>微服务、容器化和 Serverless 让 Agent 得以长出手脚，在真实世界中行动。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455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微服务 API = Agent 的工具箱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0">
                <a:solidFill>
                  <a:srgbClr val="1A1A2E"/>
                </a:solidFill>
              </a:defRPr>
            </a:pPr>
            <a:r>
              <a:t>• 微服务将大型应用拆散为独立可部署的服务单元，通过 HTTP/gRPC API 互联</a:t>
            </a:r>
          </a:p>
          <a:p>
            <a:pPr>
              <a:spcAft>
                <a:spcPts val="1400"/>
              </a:spcAft>
              <a:defRPr sz="2000" b="0">
                <a:solidFill>
                  <a:srgbClr val="1A1A2E"/>
                </a:solidFill>
              </a:defRPr>
            </a:pPr>
            <a:r>
              <a:t>• Agent 需要执行操作时，不需要调用静态函数，而是访问一个网络可达的服务端点</a:t>
            </a:r>
          </a:p>
          <a:p>
            <a:pPr>
              <a:spcAft>
                <a:spcPts val="1400"/>
              </a:spcAft>
              <a:defRPr sz="2000" b="1">
                <a:solidFill>
                  <a:srgbClr val="553C9A"/>
                </a:solidFill>
              </a:defRPr>
            </a:pPr>
            <a:r>
              <a:t>• 每个外部工具对 Agent 而言就是一个可寻址的 API — Agent 的手延伸到了整个互联网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455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Kubernetes vs LLM Agent：同一个心智模型，不同的管理对象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28600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A0AEC0"/>
                </a:solidFill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2926080" y="1280160"/>
            <a:ext cx="457200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13258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553C9A"/>
                </a:solidFill>
              </a:defRPr>
            </a:pPr>
            <a:r>
              <a:t>Kubernetes Controller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1280160"/>
            <a:ext cx="438912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132588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553C9A"/>
                </a:solidFill>
              </a:defRPr>
            </a:pPr>
            <a:r>
              <a:t>LLM Agent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28800"/>
            <a:ext cx="2286000" cy="1143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901952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94560"/>
                </a:solidFill>
              </a:defRPr>
            </a:pPr>
            <a:r>
              <a:t>输入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0" y="1828800"/>
            <a:ext cx="4572000" cy="1143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17520" y="1901952"/>
            <a:ext cx="4389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声明式 YAML</a:t>
            </a:r>
            <a:br/>
            <a:r>
              <a:t>（静态资源需求）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1828800"/>
            <a:ext cx="4389120" cy="1143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1901952"/>
            <a:ext cx="4206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自然语言 Prompt</a:t>
            </a:r>
            <a:br/>
            <a:r>
              <a:t>（动态人类意图）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063240"/>
            <a:ext cx="2286000" cy="11430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136392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94560"/>
                </a:solidFill>
              </a:defRPr>
            </a:pPr>
            <a:r>
              <a:t>控制循环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26080" y="3063240"/>
            <a:ext cx="4572000" cy="11430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17520" y="3136392"/>
            <a:ext cx="4389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observe decide act</a:t>
            </a:r>
            <a:br/>
            <a:r>
              <a:t>持续调谐直到达成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0" y="3063240"/>
            <a:ext cx="4389120" cy="11430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3136392"/>
            <a:ext cx="4206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thought action observation</a:t>
            </a:r>
            <a:br/>
            <a:r>
              <a:t>循环往复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297680"/>
            <a:ext cx="2286000" cy="1143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370832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94560"/>
                </a:solidFill>
              </a:defRPr>
            </a:pPr>
            <a:r>
              <a:t>目标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26080" y="4297680"/>
            <a:ext cx="4572000" cy="1143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7520" y="4370832"/>
            <a:ext cx="4389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基础设施达到期望状态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0" y="4297680"/>
            <a:ext cx="4389120" cy="1143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0" y="4370832"/>
            <a:ext cx="4206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业务目标被实现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532120"/>
            <a:ext cx="2286000" cy="11430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605272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94560"/>
                </a:solidFill>
              </a:defRPr>
            </a:pPr>
            <a:r>
              <a:t>本质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26080" y="5532120"/>
            <a:ext cx="4572000" cy="11430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17520" y="5605272"/>
            <a:ext cx="4389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管理基础设施的 Agent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2400" y="5532120"/>
            <a:ext cx="4389120" cy="11430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63840" y="5605272"/>
            <a:ext cx="4206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管理业务逻辑的 Agent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455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关键洞察：K8s Controller = 原始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553C9A"/>
                </a:solidFill>
              </a:defRPr>
            </a:pPr>
            <a:r>
              <a:t>• K8s 的 Controller 已经在实践 Agent 的核心思想 — 声明期望状态，持续调谐直到达成</a:t>
            </a:r>
          </a:p>
          <a:p>
            <a:pPr>
              <a:spcAft>
                <a:spcPts val="1400"/>
              </a:spcAft>
              <a:defRPr sz="2000" b="0">
                <a:solidFill>
                  <a:srgbClr val="1A1A2E"/>
                </a:solidFill>
              </a:defRPr>
            </a:pPr>
            <a:r>
              <a:t>• 只是 Agent 的输入从 YAML 变成了自然语言 Prompt</a:t>
            </a:r>
          </a:p>
          <a:p>
            <a:pPr>
              <a:spcAft>
                <a:spcPts val="1400"/>
              </a:spcAft>
              <a:defRPr sz="2000" b="1">
                <a:solidFill>
                  <a:srgbClr val="553C9A"/>
                </a:solidFill>
              </a:defRPr>
            </a:pPr>
            <a:r>
              <a:t>• LLM Agent 不过是把这个模式从基础设施层搬到了业务逻辑层</a:t>
            </a:r>
          </a:p>
          <a:p>
            <a:pPr>
              <a:spcAft>
                <a:spcPts val="1400"/>
              </a:spcAft>
              <a:defRPr sz="2000" b="0">
                <a:solidFill>
                  <a:srgbClr val="1A1A2E"/>
                </a:solidFill>
              </a:defRPr>
            </a:pPr>
            <a:r>
              <a:t>• Kubernetes = 管理基础设施的 Agent | LLM Agent = 管理业务逻辑的 Agent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455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Serverless：极致的原子能力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0">
                <a:solidFill>
                  <a:srgbClr val="1A1A2E"/>
                </a:solidFill>
              </a:defRPr>
            </a:pPr>
            <a:r>
              <a:t>• Serverless 将计算粒度从服务细化为函数：从维护一口永不干涸的井到按杯取水</a:t>
            </a:r>
          </a:p>
          <a:p>
            <a:pPr>
              <a:spcAft>
                <a:spcPts val="1400"/>
              </a:spcAft>
              <a:defRPr sz="2000" b="0">
                <a:solidFill>
                  <a:srgbClr val="1A1A2E"/>
                </a:solidFill>
              </a:defRPr>
            </a:pPr>
            <a:r>
              <a:t>• 函数平时沉睡在云端，事件触发时才激活 — 极致按需使用</a:t>
            </a:r>
          </a:p>
          <a:p>
            <a:pPr>
              <a:spcAft>
                <a:spcPts val="1400"/>
              </a:spcAft>
              <a:defRPr sz="2000" b="1">
                <a:solidFill>
                  <a:srgbClr val="553C9A"/>
                </a:solidFill>
              </a:defRPr>
            </a:pPr>
            <a:r>
              <a:t>• 在 Agent 架构中，Serverless 函数如同沉睡的技能：成千上万个工具部署为函数，Agent 在产生特定意图的瞬间通过 API 唤醒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455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Software 2.0：2017年 Karpathy 的预言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32588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53C9A"/>
                </a:solidFill>
              </a:defRPr>
            </a:pPr>
            <a:r>
              <a:t>软件 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32588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94560"/>
                </a:solidFill>
              </a:defRPr>
            </a:pPr>
            <a:r>
              <a:t>软件 2.0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2560320" cy="1143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94560"/>
                </a:solidFill>
              </a:defRPr>
            </a:pPr>
            <a:r>
              <a:t>开发者角色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737360"/>
            <a:ext cx="5212080" cy="1143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82880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53C9A"/>
                </a:solidFill>
              </a:defRPr>
            </a:pPr>
            <a:r>
              <a:t>建筑师 — 精确控制每行逻辑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0" y="1737360"/>
            <a:ext cx="3200400" cy="1143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182880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园丁 — 提供土壤和栅栏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971800"/>
            <a:ext cx="2560320" cy="11430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06324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94560"/>
                </a:solidFill>
              </a:defRPr>
            </a:pPr>
            <a:r>
              <a:t>逻辑来源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2971800"/>
            <a:ext cx="5212080" cy="11430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306324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53C9A"/>
                </a:solidFill>
              </a:defRPr>
            </a:pPr>
            <a:r>
              <a:t>人类写 if-else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0" y="2971800"/>
            <a:ext cx="3200400" cy="11430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0" y="306324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模型从海量数据中涌现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206240"/>
            <a:ext cx="2560320" cy="1143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29768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94560"/>
                </a:solidFill>
              </a:defRPr>
            </a:pPr>
            <a:r>
              <a:t>核心特征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4206240"/>
            <a:ext cx="5212080" cy="1143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91840" y="429768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53C9A"/>
                </a:solidFill>
              </a:defRPr>
            </a:pPr>
            <a:r>
              <a:t>确定性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0" y="4206240"/>
            <a:ext cx="3200400" cy="1143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0" y="429768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概率性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440680"/>
            <a:ext cx="2560320" cy="11430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53212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94560"/>
                </a:solidFill>
              </a:defRPr>
            </a:pPr>
            <a:r>
              <a:t>系统稳定性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0" y="5440680"/>
            <a:ext cx="5212080" cy="11430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91840" y="55321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53C9A"/>
                </a:solidFill>
              </a:defRPr>
            </a:pPr>
            <a:r>
              <a:t>来自精密控制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86800" y="5440680"/>
            <a:ext cx="3200400" cy="11430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78240" y="553212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来自自适应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455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当代码本身变成数据：DevOps 的假设倒塌了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45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i="0">
                <a:solidFill>
                  <a:srgbClr val="1A1A2E"/>
                </a:solidFill>
              </a:defRPr>
            </a:pPr>
            <a:r>
              <a:t>当代码本身演变为数据（模型权重），</a:t>
            </a:r>
            <a:br/>
            <a:r>
              <a:t>DevOps 的核心假设便轰然倒塌 — 你无法再用传统的服务器指标来定义正常运行，</a:t>
            </a:r>
            <a:br/>
            <a:r>
              <a:t>因为系统的行为不再由代码决定，而由权重决定。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3891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553C9A"/>
                </a:solidFill>
              </a:defRPr>
            </a:pPr>
            <a:r>
              <a:t>• MLOps（Machine Learning Operations）：借鉴 DevOps 思路，为机器学习系统建立从实验到生产的标准化流水线</a:t>
            </a:r>
          </a:p>
          <a:p>
            <a:pPr>
              <a:spcAft>
                <a:spcPts val="1400"/>
              </a:spcAft>
              <a:defRPr sz="2000" b="0">
                <a:solidFill>
                  <a:srgbClr val="1A1A2E"/>
                </a:solidFill>
              </a:defRPr>
            </a:pPr>
            <a:r>
              <a:t>• MLOps 为 AgentOps 铺平了道路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553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455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范式迁移全景：三条技术路线共同为 Agent 奠定基石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3453383" cy="14173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36192"/>
            <a:ext cx="336194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53C9A"/>
                </a:solidFill>
              </a:defRPr>
            </a:pPr>
            <a:r>
              <a:t>函数与流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38528"/>
            <a:ext cx="3361944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0AEC0"/>
                </a:solidFill>
              </a:defRPr>
            </a:pPr>
            <a:r>
              <a:t>使软件契合 AI 的思考节奏</a:t>
            </a:r>
            <a:br/>
            <a:r>
              <a:t>LLM = 无状态纯函数</a:t>
            </a:r>
            <a:br/>
            <a:r>
              <a:t>管道处理与 Agent 数据流天然吻合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6344" y="1463040"/>
            <a:ext cx="3453383" cy="14173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76344" y="1536192"/>
            <a:ext cx="336194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53C9A"/>
                </a:solidFill>
              </a:defRPr>
            </a:pPr>
            <a:r>
              <a:t>分布式 + Serverless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6344" y="1938528"/>
            <a:ext cx="3361944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0AEC0"/>
                </a:solidFill>
              </a:defRPr>
            </a:pPr>
            <a:r>
              <a:t>为 Agent 提供无限延展的手脚</a:t>
            </a:r>
            <a:br/>
            <a:r>
              <a:t>微服务 API = 工具箱</a:t>
            </a:r>
            <a:br/>
            <a:r>
              <a:t>Serverless = 沉睡的技能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12607" y="1463040"/>
            <a:ext cx="3453383" cy="14173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12607" y="1536192"/>
            <a:ext cx="336194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53C9A"/>
                </a:solidFill>
              </a:defRPr>
            </a:pPr>
            <a:r>
              <a:t>软件 2.0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12607" y="1938528"/>
            <a:ext cx="3361944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0AEC0"/>
                </a:solidFill>
              </a:defRPr>
            </a:pPr>
            <a:r>
              <a:t>在不确定性中建立对确定性的信心</a:t>
            </a:r>
            <a:br/>
            <a:r>
              <a:t>从消除不确定到利用不确定</a:t>
            </a:r>
            <a:br/>
            <a:r>
              <a:t>园丁思维取代建筑师思维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745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i="1">
                <a:solidFill>
                  <a:srgbClr val="1A1A2E"/>
                </a:solidFill>
              </a:defRPr>
            </a:pPr>
            <a:r>
              <a:t>"从 GoF 的 23 个设计模式到 Agent 的无限可能，我们跨越了软件工程的一个世纪：设计模式并未消亡，而是在进化；软件工程未曾终结，而是在重生；人类的角色没有消失，而是在升华。"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553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45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i="0">
                <a:solidFill>
                  <a:srgbClr val="FFFFFF"/>
                </a:solidFill>
              </a:defRPr>
            </a:pPr>
            <a:r>
              <a:t>🔮  下篇：六大类 21 个核心设计模式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455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完整 Agent = 感知 + 记忆 + 推理 + 行动 + 反思 + 协作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650492" cy="47548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6047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553C9A"/>
                </a:solidFill>
              </a:defRPr>
            </a:pPr>
            <a:r>
              <a:t>👁️ 感知</a:t>
            </a:r>
            <a:br/>
            <a:r>
              <a:t>看世界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160477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A0AEC0"/>
                </a:solidFill>
              </a:defRPr>
            </a:pPr>
            <a:r>
              <a:t>注意力聚焦</a:t>
            </a:r>
          </a:p>
          <a:p>
            <a:pPr algn="ctr">
              <a:defRPr sz="1200">
                <a:solidFill>
                  <a:srgbClr val="A0AEC0"/>
                </a:solidFill>
              </a:defRPr>
            </a:pPr>
            <a:r>
              <a:t>多模态融合</a:t>
            </a:r>
          </a:p>
          <a:p>
            <a:pPr algn="ctr">
              <a:defRPr sz="1200">
                <a:solidFill>
                  <a:srgbClr val="A0AEC0"/>
                </a:solidFill>
              </a:defRPr>
            </a:pPr>
            <a:r>
              <a:t>主动感知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19172" y="1371600"/>
            <a:ext cx="1650492" cy="47548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19172" y="1463040"/>
            <a:ext cx="16047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553C9A"/>
                </a:solidFill>
              </a:defRPr>
            </a:pPr>
            <a:r>
              <a:t>🧠 记忆</a:t>
            </a:r>
            <a:br/>
            <a:r>
              <a:t>连接时间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9172" y="2377440"/>
            <a:ext cx="160477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A0AEC0"/>
                </a:solidFill>
              </a:defRPr>
            </a:pPr>
            <a:r>
              <a:t>分层记忆</a:t>
            </a:r>
          </a:p>
          <a:p>
            <a:pPr algn="ctr">
              <a:defRPr sz="1200">
                <a:solidFill>
                  <a:srgbClr val="A0AEC0"/>
                </a:solidFill>
              </a:defRPr>
            </a:pPr>
            <a:r>
              <a:t>RAG</a:t>
            </a:r>
          </a:p>
          <a:p>
            <a:pPr algn="ctr">
              <a:defRPr sz="1200">
                <a:solidFill>
                  <a:srgbClr val="A0AEC0"/>
                </a:solidFill>
              </a:defRPr>
            </a:pPr>
            <a:r>
              <a:t>情节记忆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6824" y="1371600"/>
            <a:ext cx="1650492" cy="47548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06824" y="1463040"/>
            <a:ext cx="16047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553C9A"/>
                </a:solidFill>
              </a:defRPr>
            </a:pPr>
            <a:r>
              <a:t>⚙️ 推理</a:t>
            </a:r>
            <a:br/>
            <a:r>
              <a:t>编织逻辑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06824" y="2377440"/>
            <a:ext cx="160477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A0AEC0"/>
                </a:solidFill>
              </a:defRPr>
            </a:pPr>
            <a:r>
              <a:t>思维链</a:t>
            </a:r>
          </a:p>
          <a:p>
            <a:pPr algn="ctr">
              <a:defRPr sz="1200">
                <a:solidFill>
                  <a:srgbClr val="A0AEC0"/>
                </a:solidFill>
              </a:defRPr>
            </a:pPr>
            <a:r>
              <a:t>思维树</a:t>
            </a:r>
          </a:p>
          <a:p>
            <a:pPr algn="ctr">
              <a:defRPr sz="1200">
                <a:solidFill>
                  <a:srgbClr val="A0AEC0"/>
                </a:solidFill>
              </a:defRPr>
            </a:pPr>
            <a:r>
              <a:t>思维图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4476" y="1371600"/>
            <a:ext cx="1650492" cy="47548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4476" y="1463040"/>
            <a:ext cx="16047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553C9A"/>
                </a:solidFill>
              </a:defRPr>
            </a:pPr>
            <a:r>
              <a:t>💪 行动</a:t>
            </a:r>
            <a:br/>
            <a:r>
              <a:t>付诸实施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4476" y="2377440"/>
            <a:ext cx="160477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A0AEC0"/>
                </a:solidFill>
              </a:defRPr>
            </a:pPr>
            <a:r>
              <a:t>ReAct</a:t>
            </a:r>
          </a:p>
          <a:p>
            <a:pPr algn="ctr">
              <a:defRPr sz="1200">
                <a:solidFill>
                  <a:srgbClr val="A0AEC0"/>
                </a:solidFill>
              </a:defRPr>
            </a:pPr>
            <a:r>
              <a:t>规划-执行</a:t>
            </a:r>
          </a:p>
          <a:p>
            <a:pPr algn="ctr">
              <a:defRPr sz="1200">
                <a:solidFill>
                  <a:srgbClr val="A0AEC0"/>
                </a:solidFill>
              </a:defRPr>
            </a:pPr>
            <a:r>
              <a:t>工具编排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82128" y="1371600"/>
            <a:ext cx="1650492" cy="47548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82128" y="1463040"/>
            <a:ext cx="16047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553C9A"/>
                </a:solidFill>
              </a:defRPr>
            </a:pPr>
            <a:r>
              <a:t>🔮 反思</a:t>
            </a:r>
            <a:br/>
            <a:r>
              <a:t>判断对错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82128" y="2377440"/>
            <a:ext cx="160477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A0AEC0"/>
                </a:solidFill>
              </a:defRPr>
            </a:pPr>
            <a:r>
              <a:t>自我修正</a:t>
            </a:r>
          </a:p>
          <a:p>
            <a:pPr algn="ctr">
              <a:defRPr sz="1200">
                <a:solidFill>
                  <a:srgbClr val="A0AEC0"/>
                </a:solidFill>
              </a:defRPr>
            </a:pPr>
            <a:r>
              <a:t>反思记忆</a:t>
            </a:r>
          </a:p>
          <a:p>
            <a:pPr algn="ctr">
              <a:defRPr sz="1200">
                <a:solidFill>
                  <a:srgbClr val="A0AEC0"/>
                </a:solidFill>
              </a:defRPr>
            </a:pPr>
            <a:r>
              <a:t>元学习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69780" y="1371600"/>
            <a:ext cx="1650492" cy="47548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69780" y="1463040"/>
            <a:ext cx="16047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553C9A"/>
                </a:solidFill>
              </a:defRPr>
            </a:pPr>
            <a:r>
              <a:t>🤝 协作</a:t>
            </a:r>
            <a:br/>
            <a:r>
              <a:t>共同进化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69780" y="2377440"/>
            <a:ext cx="160477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A0AEC0"/>
                </a:solidFill>
              </a:defRPr>
            </a:pPr>
            <a:r>
              <a:t>辩论</a:t>
            </a:r>
          </a:p>
          <a:p>
            <a:pPr algn="ctr">
              <a:defRPr sz="1200">
                <a:solidFill>
                  <a:srgbClr val="A0AEC0"/>
                </a:solidFill>
              </a:defRPr>
            </a:pPr>
            <a:r>
              <a:t>委托</a:t>
            </a:r>
          </a:p>
          <a:p>
            <a:pPr algn="ctr">
              <a:defRPr sz="1200">
                <a:solidFill>
                  <a:srgbClr val="A0AEC0"/>
                </a:solidFill>
              </a:defRPr>
            </a:pPr>
            <a:r>
              <a:t>群体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455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21 个设计模式一览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43000"/>
            <a:ext cx="594360" cy="196596"/>
          </a:xfrm>
          <a:prstGeom prst="roundRect">
            <a:avLst/>
          </a:prstGeom>
          <a:solidFill>
            <a:srgbClr val="42A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52144"/>
            <a:ext cx="594360" cy="1783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感知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1152144"/>
            <a:ext cx="1371600" cy="1783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A1A2E"/>
                </a:solidFill>
              </a:defRPr>
            </a:pPr>
            <a:r>
              <a:t>注意力聚焦模式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59152" y="1152144"/>
            <a:ext cx="1536192" cy="1783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4A5568"/>
                </a:solidFill>
              </a:defRPr>
            </a:pPr>
            <a:r>
              <a:t>构建认知漏斗，用最低 Token 成本换取最高价值信息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1143000"/>
            <a:ext cx="594360" cy="196596"/>
          </a:xfrm>
          <a:prstGeom prst="roundRect">
            <a:avLst/>
          </a:prstGeom>
          <a:solidFill>
            <a:srgbClr val="42A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1152144"/>
            <a:ext cx="594360" cy="1783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感知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36592" y="1152144"/>
            <a:ext cx="1371600" cy="1783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A1A2E"/>
                </a:solidFill>
              </a:defRPr>
            </a:pPr>
            <a:r>
              <a:t>多模态融合模式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08192" y="1152144"/>
            <a:ext cx="1536192" cy="1783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4A5568"/>
                </a:solidFill>
              </a:defRPr>
            </a:pPr>
            <a:r>
              <a:t>打破图像/文字/语音的模态孤岛，建立统一语义场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1143000"/>
            <a:ext cx="594360" cy="196596"/>
          </a:xfrm>
          <a:prstGeom prst="roundRect">
            <a:avLst/>
          </a:prstGeom>
          <a:solidFill>
            <a:srgbClr val="42A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1152144"/>
            <a:ext cx="594360" cy="1783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感知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1152144"/>
            <a:ext cx="1371600" cy="1783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A1A2E"/>
                </a:solidFill>
              </a:defRPr>
            </a:pPr>
            <a:r>
              <a:t>主动感知模式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57232" y="1152144"/>
            <a:ext cx="1536192" cy="1783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4A5568"/>
                </a:solidFill>
              </a:defRPr>
            </a:pPr>
            <a:r>
              <a:t>Agent 从被动的答题者变为主动的调查员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1357884"/>
            <a:ext cx="594360" cy="196596"/>
          </a:xfrm>
          <a:prstGeom prst="roundRect">
            <a:avLst/>
          </a:prstGeom>
          <a:solidFill>
            <a:srgbClr val="38A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1367028"/>
            <a:ext cx="594360" cy="1783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记忆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1367028"/>
            <a:ext cx="1371600" cy="1783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A1A2E"/>
                </a:solidFill>
              </a:defRPr>
            </a:pPr>
            <a:r>
              <a:t>分层记忆模式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59152" y="1367028"/>
            <a:ext cx="1536192" cy="1783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4A5568"/>
                </a:solidFill>
              </a:defRPr>
            </a:pPr>
            <a:r>
              <a:t>L1工作记忆 / L2短期缓存 / L3长期存储，信息在冷热间自动流转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0" y="1357884"/>
            <a:ext cx="594360" cy="196596"/>
          </a:xfrm>
          <a:prstGeom prst="roundRect">
            <a:avLst/>
          </a:prstGeom>
          <a:solidFill>
            <a:srgbClr val="38A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0" y="1367028"/>
            <a:ext cx="594360" cy="1783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记忆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36592" y="1367028"/>
            <a:ext cx="1371600" cy="1783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A1A2E"/>
                </a:solidFill>
              </a:defRPr>
            </a:pPr>
            <a:r>
              <a:t>RAG模式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08192" y="1367028"/>
            <a:ext cx="1536192" cy="1783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4A5568"/>
                </a:solidFill>
              </a:defRPr>
            </a:pPr>
            <a:r>
              <a:t>将推理能力(CPU)与知识存储(磁盘)解耦，无需重新训练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63840" y="1357884"/>
            <a:ext cx="594360" cy="196596"/>
          </a:xfrm>
          <a:prstGeom prst="roundRect">
            <a:avLst/>
          </a:prstGeom>
          <a:solidFill>
            <a:srgbClr val="38A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0" y="1367028"/>
            <a:ext cx="594360" cy="1783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记忆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85632" y="1367028"/>
            <a:ext cx="1371600" cy="1783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A1A2E"/>
                </a:solidFill>
              </a:defRPr>
            </a:pPr>
            <a:r>
              <a:t>情节记忆模式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57232" y="1367028"/>
            <a:ext cx="1536192" cy="1783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4A5568"/>
                </a:solidFill>
              </a:defRPr>
            </a:pPr>
            <a:r>
              <a:t>沉淀 Agent 自身交互产生的动态经验，无需微调即可进化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1572768"/>
            <a:ext cx="594360" cy="196596"/>
          </a:xfrm>
          <a:prstGeom prst="round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1581912"/>
            <a:ext cx="594360" cy="1783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推理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" y="1581912"/>
            <a:ext cx="1371600" cy="1783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A1A2E"/>
                </a:solidFill>
              </a:defRPr>
            </a:pPr>
            <a:r>
              <a:t>思维链模式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59152" y="1581912"/>
            <a:ext cx="1536192" cy="1783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4A5568"/>
                </a:solidFill>
              </a:defRPr>
            </a:pPr>
            <a:r>
              <a:t>线性逐步推进，适合数学与逻辑推导（走钢丝）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14800" y="1572768"/>
            <a:ext cx="594360" cy="196596"/>
          </a:xfrm>
          <a:prstGeom prst="round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0" y="1581912"/>
            <a:ext cx="594360" cy="1783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推理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36592" y="1581912"/>
            <a:ext cx="1371600" cy="1783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A1A2E"/>
                </a:solidFill>
              </a:defRPr>
            </a:pPr>
            <a:r>
              <a:t>思维树模式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08192" y="1581912"/>
            <a:ext cx="1536192" cy="1783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4A5568"/>
                </a:solidFill>
              </a:defRPr>
            </a:pPr>
            <a:r>
              <a:t>启发式搜索+剪枝回溯，适合多分支权衡（迷宫探路）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863840" y="1572768"/>
            <a:ext cx="594360" cy="196596"/>
          </a:xfrm>
          <a:prstGeom prst="round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63840" y="1581912"/>
            <a:ext cx="594360" cy="1783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推理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85632" y="1581912"/>
            <a:ext cx="1371600" cy="1783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A1A2E"/>
                </a:solidFill>
              </a:defRPr>
            </a:pPr>
            <a:r>
              <a:t>思维图模式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57232" y="1581912"/>
            <a:ext cx="1536192" cy="1783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4A5568"/>
                </a:solidFill>
              </a:defRPr>
            </a:pPr>
            <a:r>
              <a:t>图结构编织+多轮迭代，适合复杂依赖整合（织布机）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65760" y="1787652"/>
            <a:ext cx="594360" cy="196596"/>
          </a:xfrm>
          <a:prstGeom prst="round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1796796"/>
            <a:ext cx="594360" cy="1783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推理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7552" y="1796796"/>
            <a:ext cx="1371600" cy="1783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A1A2E"/>
                </a:solidFill>
              </a:defRPr>
            </a:pPr>
            <a:r>
              <a:t>类比推理模式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59152" y="1796796"/>
            <a:ext cx="1536192" cy="1783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4A5568"/>
                </a:solidFill>
              </a:defRPr>
            </a:pPr>
            <a:r>
              <a:t>以已知推未知，适合新颖问题和小样本场景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114800" y="1787652"/>
            <a:ext cx="594360" cy="196596"/>
          </a:xfrm>
          <a:prstGeom prst="round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14800" y="1796796"/>
            <a:ext cx="594360" cy="1783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行动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36592" y="1796796"/>
            <a:ext cx="1371600" cy="1783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A1A2E"/>
                </a:solidFill>
              </a:defRPr>
            </a:pPr>
            <a:r>
              <a:t>ReAct模式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08192" y="1796796"/>
            <a:ext cx="1536192" cy="1783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4A5568"/>
                </a:solidFill>
              </a:defRPr>
            </a:pPr>
            <a:r>
              <a:t>Thought Action Observation 循环，实时获取环境反馈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863840" y="1787652"/>
            <a:ext cx="594360" cy="196596"/>
          </a:xfrm>
          <a:prstGeom prst="round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863840" y="1796796"/>
            <a:ext cx="594360" cy="1783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行动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85632" y="1796796"/>
            <a:ext cx="1371600" cy="1783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A1A2E"/>
                </a:solidFill>
              </a:defRPr>
            </a:pPr>
            <a:r>
              <a:t>规划-执行模式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57232" y="1796796"/>
            <a:ext cx="1536192" cy="1783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4A5568"/>
                </a:solidFill>
              </a:defRPr>
            </a:pPr>
            <a:r>
              <a:t>先运筹帷幄制订全局战略，再分解为可执行步骤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65760" y="2002536"/>
            <a:ext cx="594360" cy="196596"/>
          </a:xfrm>
          <a:prstGeom prst="round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760" y="2011680"/>
            <a:ext cx="594360" cy="1783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行动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87552" y="2011680"/>
            <a:ext cx="1371600" cy="1783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A1A2E"/>
                </a:solidFill>
              </a:defRPr>
            </a:pPr>
            <a:r>
              <a:t>工具编排模式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59152" y="2011680"/>
            <a:ext cx="1536192" cy="1783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4A5568"/>
                </a:solidFill>
              </a:defRPr>
            </a:pPr>
            <a:r>
              <a:t>精准选择、协同调配海量外部工具（调兵遣将）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114800" y="2002536"/>
            <a:ext cx="594360" cy="196596"/>
          </a:xfrm>
          <a:prstGeom prst="round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114800" y="2011680"/>
            <a:ext cx="594360" cy="1783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行动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736592" y="2011680"/>
            <a:ext cx="1371600" cy="1783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A1A2E"/>
                </a:solidFill>
              </a:defRPr>
            </a:pPr>
            <a:r>
              <a:t>自适应策略模式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08192" y="2011680"/>
            <a:ext cx="1536192" cy="1783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4A5568"/>
                </a:solidFill>
              </a:defRPr>
            </a:pPr>
            <a:r>
              <a:t>通过试错+反馈+选择演化出最优决策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863840" y="2002536"/>
            <a:ext cx="594360" cy="196596"/>
          </a:xfrm>
          <a:prstGeom prst="roundRect">
            <a:avLst/>
          </a:prstGeom>
          <a:solidFill>
            <a:srgbClr val="9F7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863840" y="2011680"/>
            <a:ext cx="594360" cy="1783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反思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485632" y="2011680"/>
            <a:ext cx="1371600" cy="1783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A1A2E"/>
                </a:solidFill>
              </a:defRPr>
            </a:pPr>
            <a:r>
              <a:t>自我修正模式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857232" y="2011680"/>
            <a:ext cx="1536192" cy="1783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4A5568"/>
                </a:solidFill>
              </a:defRPr>
            </a:pPr>
            <a:r>
              <a:t>当下毫秒级，像橡皮擦一样擦除错误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65760" y="2217420"/>
            <a:ext cx="594360" cy="196596"/>
          </a:xfrm>
          <a:prstGeom prst="roundRect">
            <a:avLst/>
          </a:prstGeom>
          <a:solidFill>
            <a:srgbClr val="9F7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5760" y="2226564"/>
            <a:ext cx="594360" cy="1783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反思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87552" y="2226564"/>
            <a:ext cx="1371600" cy="1783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A1A2E"/>
                </a:solidFill>
              </a:defRPr>
            </a:pPr>
            <a:r>
              <a:t>反思记忆模式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359152" y="2226564"/>
            <a:ext cx="1536192" cy="1783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4A5568"/>
                </a:solidFill>
              </a:defRPr>
            </a:pPr>
            <a:r>
              <a:t>下次分钟级，像错题本一样将教训存入长期记忆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114800" y="2217420"/>
            <a:ext cx="594360" cy="196596"/>
          </a:xfrm>
          <a:prstGeom prst="roundRect">
            <a:avLst/>
          </a:prstGeom>
          <a:solidFill>
            <a:srgbClr val="9F7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114800" y="2226564"/>
            <a:ext cx="594360" cy="1783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反思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736592" y="2226564"/>
            <a:ext cx="1371600" cy="1783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A1A2E"/>
                </a:solidFill>
              </a:defRPr>
            </a:pPr>
            <a:r>
              <a:t>元学习模式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108192" y="2226564"/>
            <a:ext cx="1536192" cy="1783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4A5568"/>
                </a:solidFill>
              </a:defRPr>
            </a:pPr>
            <a:r>
              <a:t>长远日/周级，像修订教科书一样迭代 Prompt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863840" y="2217420"/>
            <a:ext cx="594360" cy="196596"/>
          </a:xfrm>
          <a:prstGeom prst="round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863840" y="2226564"/>
            <a:ext cx="594360" cy="1783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协作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485632" y="2226564"/>
            <a:ext cx="1371600" cy="1783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A1A2E"/>
                </a:solidFill>
              </a:defRPr>
            </a:pPr>
            <a:r>
              <a:t>辩论模式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857232" y="2226564"/>
            <a:ext cx="1536192" cy="1783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4A5568"/>
                </a:solidFill>
              </a:defRPr>
            </a:pPr>
            <a:r>
              <a:t>对抗性推演，真理在多角度交锋中清晰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365760" y="2432304"/>
            <a:ext cx="594360" cy="196596"/>
          </a:xfrm>
          <a:prstGeom prst="round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65760" y="2441448"/>
            <a:ext cx="594360" cy="1783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协作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87552" y="2441448"/>
            <a:ext cx="1371600" cy="1783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A1A2E"/>
                </a:solidFill>
              </a:defRPr>
            </a:pPr>
            <a:r>
              <a:t>委托模式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359152" y="2441448"/>
            <a:ext cx="1536192" cy="1783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4A5568"/>
                </a:solidFill>
              </a:defRPr>
            </a:pPr>
            <a:r>
              <a:t>层级目标分解，经理指挥工人的高效执行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114800" y="2432304"/>
            <a:ext cx="594360" cy="196596"/>
          </a:xfrm>
          <a:prstGeom prst="round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114800" y="2441448"/>
            <a:ext cx="594360" cy="1783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协作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736592" y="2441448"/>
            <a:ext cx="1371600" cy="1783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A1A2E"/>
                </a:solidFill>
              </a:defRPr>
            </a:pPr>
            <a:r>
              <a:t>路由模式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108192" y="2441448"/>
            <a:ext cx="1536192" cy="1783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4A5568"/>
                </a:solidFill>
              </a:defRPr>
            </a:pPr>
            <a:r>
              <a:t>精准分发，像医院分诊台分配任务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863840" y="2432304"/>
            <a:ext cx="594360" cy="196596"/>
          </a:xfrm>
          <a:prstGeom prst="round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863840" y="2441448"/>
            <a:ext cx="594360" cy="1783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协作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485632" y="2441448"/>
            <a:ext cx="1371600" cy="1783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A1A2E"/>
                </a:solidFill>
              </a:defRPr>
            </a:pPr>
            <a:r>
              <a:t>群体模式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857232" y="2441448"/>
            <a:ext cx="1536192" cy="1783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4A5568"/>
                </a:solidFill>
              </a:defRPr>
            </a:pPr>
            <a:r>
              <a:t>自组织涌现，像蚁群迁徙展现集体智慧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455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👁️ 感知模式：看世界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553C9A"/>
                </a:solidFill>
              </a:defRPr>
            </a:pPr>
            <a:r>
              <a:t>• 注意力聚焦 — 构建认知漏斗，用最低 Token 成本换取最高上下文质量</a:t>
            </a:r>
          </a:p>
          <a:p>
            <a:pPr>
              <a:spcAft>
                <a:spcPts val="1400"/>
              </a:spcAft>
              <a:defRPr sz="2000" b="0">
                <a:solidFill>
                  <a:srgbClr val="1A1A2E"/>
                </a:solidFill>
              </a:defRPr>
            </a:pPr>
            <a:r>
              <a:t>• 多模态融合 — 建立统一语义场，从拼接式向原生式演进</a:t>
            </a:r>
          </a:p>
          <a:p>
            <a:pPr>
              <a:spcAft>
                <a:spcPts val="1400"/>
              </a:spcAft>
              <a:defRPr sz="2000" b="1">
                <a:solidFill>
                  <a:srgbClr val="553C9A"/>
                </a:solidFill>
              </a:defRPr>
            </a:pPr>
            <a:r>
              <a:t>• 主动感知 — Agent 从被动的答题者转变为主动的调查员</a:t>
            </a:r>
          </a:p>
          <a:p>
            <a:pPr>
              <a:spcAft>
                <a:spcPts val="1400"/>
              </a:spcAft>
              <a:defRPr sz="2000" b="0">
                <a:solidFill>
                  <a:srgbClr val="1A1A2E"/>
                </a:solidFill>
              </a:defRPr>
            </a:pPr>
            <a:r>
              <a:t>• 本质：不是看到所有，而是看到关键并主动寻找未知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455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🧠 记忆模式：连接时间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0">
                <a:solidFill>
                  <a:srgbClr val="1A1A2E"/>
                </a:solidFill>
              </a:defRPr>
            </a:pPr>
            <a:r>
              <a:t>• 分层记忆 — L1工作记忆 / L2短期缓存 / L3长期存储(Vector DB+知识图谱)</a:t>
            </a:r>
          </a:p>
          <a:p>
            <a:pPr>
              <a:spcAft>
                <a:spcPts val="1400"/>
              </a:spcAft>
              <a:defRPr sz="2000" b="1">
                <a:solidFill>
                  <a:srgbClr val="553C9A"/>
                </a:solidFill>
              </a:defRPr>
            </a:pPr>
            <a:r>
              <a:t>• RAG — 将推理能力(CPU)与知识存储(磁盘)解耦，极低成本保持时效性</a:t>
            </a:r>
          </a:p>
          <a:p>
            <a:pPr>
              <a:spcAft>
                <a:spcPts val="1400"/>
              </a:spcAft>
              <a:defRPr sz="2000" b="1">
                <a:solidFill>
                  <a:srgbClr val="553C9A"/>
                </a:solidFill>
              </a:defRPr>
            </a:pPr>
            <a:r>
              <a:t>• 情节记忆 — 沉淀 Agent 自身交互产生的动态经验，无需微调即可进化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455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⚙️ 推理模式：编织逻辑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0">
                <a:solidFill>
                  <a:srgbClr val="1A1A2E"/>
                </a:solidFill>
              </a:defRPr>
            </a:pPr>
            <a:r>
              <a:t>• System 1 / System 2：快直觉 vs 慢刻意，Agent 需要两者兼顾</a:t>
            </a:r>
          </a:p>
          <a:p>
            <a:pPr>
              <a:spcAft>
                <a:spcPts val="1400"/>
              </a:spcAft>
              <a:defRPr sz="2000" b="1">
                <a:solidFill>
                  <a:srgbClr val="553C9A"/>
                </a:solidFill>
              </a:defRPr>
            </a:pPr>
            <a:r>
              <a:t>• 思维链(CoT) — 线性逐步推进，适合数学与逻辑推导（走钢丝）</a:t>
            </a:r>
          </a:p>
          <a:p>
            <a:pPr>
              <a:spcAft>
                <a:spcPts val="1400"/>
              </a:spcAft>
              <a:defRPr sz="2000" b="1">
                <a:solidFill>
                  <a:srgbClr val="553C9A"/>
                </a:solidFill>
              </a:defRPr>
            </a:pPr>
            <a:r>
              <a:t>• 思维树(ToT) — 启发式搜索+剪枝回溯，适合多分支权衡（迷宫探路）</a:t>
            </a:r>
          </a:p>
          <a:p>
            <a:pPr>
              <a:spcAft>
                <a:spcPts val="1400"/>
              </a:spcAft>
              <a:defRPr sz="2000" b="0">
                <a:solidFill>
                  <a:srgbClr val="1A1A2E"/>
                </a:solidFill>
              </a:defRPr>
            </a:pPr>
            <a:r>
              <a:t>• 思维图(GoT) — 图结构编织+多轮迭代，适合复杂依赖整合（织布机）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455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💪 行动模式：付诸实施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553C9A"/>
                </a:solidFill>
              </a:defRPr>
            </a:pPr>
            <a:r>
              <a:t>• ReAct — 边想边做：Thought Action Observation 循环，实时获取环境反馈</a:t>
            </a:r>
          </a:p>
          <a:p>
            <a:pPr>
              <a:spcAft>
                <a:spcPts val="1400"/>
              </a:spcAft>
              <a:defRPr sz="2000" b="0">
                <a:solidFill>
                  <a:srgbClr val="1A1A2E"/>
                </a:solidFill>
              </a:defRPr>
            </a:pPr>
            <a:r>
              <a:t>• 规划-执行 — 先制订全局战略，再分解为可执行步骤（运筹帷幄）</a:t>
            </a:r>
          </a:p>
          <a:p>
            <a:pPr>
              <a:spcAft>
                <a:spcPts val="1400"/>
              </a:spcAft>
              <a:defRPr sz="2000" b="0">
                <a:solidFill>
                  <a:srgbClr val="1A1A2E"/>
                </a:solidFill>
              </a:defRPr>
            </a:pPr>
            <a:r>
              <a:t>• 工具编排 — 精准选择、协同调配海量外部工具（调兵遣将）</a:t>
            </a:r>
          </a:p>
          <a:p>
            <a:pPr>
              <a:spcAft>
                <a:spcPts val="1400"/>
              </a:spcAft>
              <a:defRPr sz="2000" b="0">
                <a:solidFill>
                  <a:srgbClr val="1A1A2E"/>
                </a:solidFill>
              </a:defRPr>
            </a:pPr>
            <a:r>
              <a:t>• 自适应策略 — 从进化论角度，通过试错+反馈+选择演化出最优决策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455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🔮 反思模式：AI 的灵魂工程学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0">
                <a:solidFill>
                  <a:srgbClr val="1A1A2E"/>
                </a:solidFill>
              </a:defRPr>
            </a:pPr>
            <a:r>
              <a:t>• 自我修正 — 当下毫秒级，像橡皮擦一样擦除错误（仅限当前任务）</a:t>
            </a:r>
          </a:p>
          <a:p>
            <a:pPr>
              <a:spcAft>
                <a:spcPts val="1400"/>
              </a:spcAft>
              <a:defRPr sz="2000" b="0">
                <a:solidFill>
                  <a:srgbClr val="1A1A2E"/>
                </a:solidFill>
              </a:defRPr>
            </a:pPr>
            <a:r>
              <a:t>• 反思记忆 — 下次分钟级，像错题本一样生成语言形式的教训存入长期记忆</a:t>
            </a:r>
          </a:p>
          <a:p>
            <a:pPr>
              <a:spcAft>
                <a:spcPts val="1400"/>
              </a:spcAft>
              <a:defRPr sz="2000" b="1">
                <a:solidFill>
                  <a:srgbClr val="553C9A"/>
                </a:solidFill>
              </a:defRPr>
            </a:pPr>
            <a:r>
              <a:t>• 元学习 — 长远日/周级，像修订教科书一样借助优化器自动迭代 Prompt</a:t>
            </a:r>
          </a:p>
          <a:p>
            <a:pPr>
              <a:spcAft>
                <a:spcPts val="1400"/>
              </a:spcAft>
              <a:defRPr sz="2000" b="1">
                <a:solidFill>
                  <a:srgbClr val="553C9A"/>
                </a:solidFill>
              </a:defRPr>
            </a:pPr>
            <a:r>
              <a:t>• 感知/记忆/推理/行动/反思 = 眼睛/神经/大脑/肌肉/灵魂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455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🤝 协作模式：共同进化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0">
                <a:solidFill>
                  <a:srgbClr val="1A1A2E"/>
                </a:solidFill>
              </a:defRPr>
            </a:pPr>
            <a:r>
              <a:t>• 辩论 — 对抗性推演，真理在多角度交锋中清晰（法庭正反双方）</a:t>
            </a:r>
          </a:p>
          <a:p>
            <a:pPr>
              <a:spcAft>
                <a:spcPts val="1400"/>
              </a:spcAft>
              <a:defRPr sz="2000" b="0">
                <a:solidFill>
                  <a:srgbClr val="1A1A2E"/>
                </a:solidFill>
              </a:defRPr>
            </a:pPr>
            <a:r>
              <a:t>• 委托 — 层级目标分解，经理指挥工人的高效执行</a:t>
            </a:r>
          </a:p>
          <a:p>
            <a:pPr>
              <a:spcAft>
                <a:spcPts val="1400"/>
              </a:spcAft>
              <a:defRPr sz="2000" b="0">
                <a:solidFill>
                  <a:srgbClr val="1A1A2E"/>
                </a:solidFill>
              </a:defRPr>
            </a:pPr>
            <a:r>
              <a:t>• 路由 — 精准分发，像医院分诊台将任务分配给最适合的 Agent</a:t>
            </a:r>
          </a:p>
          <a:p>
            <a:pPr>
              <a:spcAft>
                <a:spcPts val="1400"/>
              </a:spcAft>
              <a:defRPr sz="2000" b="1">
                <a:solidFill>
                  <a:srgbClr val="553C9A"/>
                </a:solidFill>
              </a:defRPr>
            </a:pPr>
            <a:r>
              <a:t>• 群体 — 自组织涌现，像蚁群迁徙无需明确指挥者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745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i="1">
                <a:solidFill>
                  <a:srgbClr val="1A1A2E"/>
                </a:solidFill>
              </a:defRPr>
            </a:pPr>
            <a:r>
              <a:t>"智能的最高形态，不在于独立思考，而在于共同进化。"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2103120" cy="41148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21031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0">
                <a:solidFill>
                  <a:srgbClr val="FFFFFF"/>
                </a:solidFill>
              </a:defRPr>
            </a:pPr>
            <a:r>
              <a:t>👁️ 感知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40"/>
            <a:ext cx="21031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553C9A"/>
                </a:solidFill>
              </a:defRPr>
            </a:pPr>
            <a:r>
              <a:t>眼睛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21031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捕捉世界的信息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828800"/>
            <a:ext cx="2103120" cy="41148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2011680"/>
            <a:ext cx="21031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0">
                <a:solidFill>
                  <a:srgbClr val="FFFFFF"/>
                </a:solidFill>
              </a:defRPr>
            </a:pPr>
            <a:r>
              <a:t>🧠 记忆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291840"/>
            <a:ext cx="21031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553C9A"/>
                </a:solidFill>
              </a:defRPr>
            </a:pPr>
            <a:r>
              <a:t>神经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4572000"/>
            <a:ext cx="21031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承载经验的痕迹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1828800"/>
            <a:ext cx="2103120" cy="41148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2011680"/>
            <a:ext cx="21031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0">
                <a:solidFill>
                  <a:srgbClr val="FFFFFF"/>
                </a:solidFill>
              </a:defRPr>
            </a:pPr>
            <a:r>
              <a:t>⚙️ 推理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291840"/>
            <a:ext cx="21031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553C9A"/>
                </a:solidFill>
              </a:defRPr>
            </a:pPr>
            <a:r>
              <a:t>大脑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4572000"/>
            <a:ext cx="21031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编织逻辑的网络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1828800"/>
            <a:ext cx="2103120" cy="41148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2011680"/>
            <a:ext cx="21031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0">
                <a:solidFill>
                  <a:srgbClr val="FFFFFF"/>
                </a:solidFill>
              </a:defRPr>
            </a:pPr>
            <a:r>
              <a:t>💪 行动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3291840"/>
            <a:ext cx="21031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553C9A"/>
                </a:solidFill>
              </a:defRPr>
            </a:pPr>
            <a:r>
              <a:t>肌肉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4572000"/>
            <a:ext cx="21031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驱动行动的执行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1828800"/>
            <a:ext cx="2103120" cy="41148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0" y="2011680"/>
            <a:ext cx="21031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0">
                <a:solidFill>
                  <a:srgbClr val="FFFFFF"/>
                </a:solidFill>
              </a:defRPr>
            </a:pPr>
            <a:r>
              <a:t>🔮 反思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3291840"/>
            <a:ext cx="21031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553C9A"/>
                </a:solidFill>
              </a:defRPr>
            </a:pPr>
            <a:r>
              <a:t>灵魂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4572000"/>
            <a:ext cx="21031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对自身局限的觉察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553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455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后记：从确定性工程到概率性工程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0">
                <a:solidFill>
                  <a:srgbClr val="1A1A2E"/>
                </a:solidFill>
              </a:defRPr>
            </a:pPr>
            <a:r>
              <a:t>• 传统软件 = 牛顿力学隐喻：世界如精密钟表，追求零熵，将不确定性视为 bug</a:t>
            </a:r>
          </a:p>
          <a:p>
            <a:pPr>
              <a:spcAft>
                <a:spcPts val="1400"/>
              </a:spcAft>
              <a:defRPr sz="2000" b="0">
                <a:solidFill>
                  <a:srgbClr val="1A1A2E"/>
                </a:solidFill>
              </a:defRPr>
            </a:pPr>
            <a:r>
              <a:t>• Agent 时代 = 达尔文逻辑：软件展现生长性（通过 RAG 积累）、适应性（动态调整）、繁殖性（生成新 Prompt）</a:t>
            </a:r>
          </a:p>
          <a:p>
            <a:pPr>
              <a:spcAft>
                <a:spcPts val="1400"/>
              </a:spcAft>
              <a:defRPr sz="2000" b="1">
                <a:solidFill>
                  <a:srgbClr val="553C9A"/>
                </a:solidFill>
              </a:defRPr>
            </a:pPr>
            <a:r>
              <a:t>• 我们正见证硅基生命的寒武纪大爆发</a:t>
            </a:r>
          </a:p>
          <a:p>
            <a:pPr>
              <a:spcAft>
                <a:spcPts val="1400"/>
              </a:spcAft>
              <a:defRPr sz="2000" b="0">
                <a:solidFill>
                  <a:srgbClr val="1A1A2E"/>
                </a:solidFill>
              </a:defRPr>
            </a:pPr>
            <a:r>
              <a:t>• 架构师的新角色 = 熵的园丁：无法命令植物长多高，但可以优化土壤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455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园丁的智慧：懂得适度失控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5271516" cy="14173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36192"/>
            <a:ext cx="518007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53C9A"/>
                </a:solidFill>
              </a:defRPr>
            </a:pPr>
            <a:r>
              <a:t>🌱 浇水施肥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38528"/>
            <a:ext cx="5180076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0AEC0"/>
                </a:solidFill>
              </a:defRPr>
            </a:pPr>
            <a:r>
              <a:t>优化数据质量</a:t>
            </a:r>
            <a:br/>
            <a:r>
              <a:t>提供知识滋养系统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4476" y="1463040"/>
            <a:ext cx="5271516" cy="14173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4476" y="1536192"/>
            <a:ext cx="518007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53C9A"/>
                </a:solidFill>
              </a:defRPr>
            </a:pPr>
            <a:r>
              <a:t>✂️ 修剪枝叶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4476" y="1938528"/>
            <a:ext cx="5180076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0AEC0"/>
                </a:solidFill>
              </a:defRPr>
            </a:pPr>
            <a:r>
              <a:t>设置护栏</a:t>
            </a:r>
            <a:br/>
            <a:r>
              <a:t>引入批判机制应对幻觉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017520"/>
            <a:ext cx="5271516" cy="14173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090672"/>
            <a:ext cx="518007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53C9A"/>
                </a:solidFill>
              </a:defRPr>
            </a:pPr>
            <a:r>
              <a:t>🌍 营造环境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493008"/>
            <a:ext cx="5180076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0AEC0"/>
                </a:solidFill>
              </a:defRPr>
            </a:pPr>
            <a:r>
              <a:t>设计 A2A 协议</a:t>
            </a:r>
            <a:br/>
            <a:r>
              <a:t>搭建 Swarm 平台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4476" y="3017520"/>
            <a:ext cx="5271516" cy="14173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4476" y="3090672"/>
            <a:ext cx="518007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53C9A"/>
                </a:solidFill>
              </a:defRPr>
            </a:pPr>
            <a:r>
              <a:t>💡 容忍混沌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4476" y="3493008"/>
            <a:ext cx="5180076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0AEC0"/>
                </a:solidFill>
              </a:defRPr>
            </a:pPr>
            <a:r>
              <a:t>唯有在混沌的边缘</a:t>
            </a:r>
            <a:br/>
            <a:r>
              <a:t>智能才会真正涌现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745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i="1">
                <a:solidFill>
                  <a:srgbClr val="1A1A2E"/>
                </a:solidFill>
              </a:defRPr>
            </a:pPr>
            <a:r>
              <a:t>"园丁的智慧，在于懂得适度失控。唯有在混沌的边缘，智能才会真正涌现。"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45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i="0">
                <a:solidFill>
                  <a:srgbClr val="FFFFFF"/>
                </a:solidFill>
              </a:defRPr>
            </a:pPr>
            <a:r>
              <a:t>谢谢观看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745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i="0">
                <a:solidFill>
                  <a:srgbClr val="A0AEC0"/>
                </a:solidFill>
              </a:defRPr>
            </a:pPr>
            <a:r>
              <a:t>《Agent设计模式》读书笔记 | Tony老师分享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112745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i="0">
                <a:solidFill>
                  <a:srgbClr val="E94560"/>
                </a:solidFill>
              </a:defRPr>
            </a:pPr>
            <a:r>
              <a:t>blog.tanteng.space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